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889" r:id="rId3"/>
    <p:sldId id="726" r:id="rId4"/>
    <p:sldId id="848" r:id="rId5"/>
    <p:sldId id="818" r:id="rId6"/>
    <p:sldId id="849" r:id="rId7"/>
    <p:sldId id="890" r:id="rId8"/>
    <p:sldId id="891" r:id="rId9"/>
    <p:sldId id="850" r:id="rId10"/>
    <p:sldId id="892" r:id="rId11"/>
    <p:sldId id="893" r:id="rId12"/>
    <p:sldId id="894" r:id="rId13"/>
    <p:sldId id="851" r:id="rId14"/>
    <p:sldId id="895" r:id="rId15"/>
    <p:sldId id="896" r:id="rId16"/>
    <p:sldId id="897" r:id="rId17"/>
    <p:sldId id="898" r:id="rId18"/>
    <p:sldId id="899" r:id="rId19"/>
    <p:sldId id="900" r:id="rId20"/>
    <p:sldId id="901" r:id="rId21"/>
    <p:sldId id="902" r:id="rId22"/>
    <p:sldId id="903" r:id="rId23"/>
    <p:sldId id="90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70391-73F1-4B78-802F-D3987272C976}" v="482" dt="2021-06-29T23:26:05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600" autoAdjust="0"/>
  </p:normalViewPr>
  <p:slideViewPr>
    <p:cSldViewPr snapToGrid="0" snapToObjects="1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Desai" userId="759d0333-e80f-43e9-9a9d-29343a9d66ae" providerId="ADAL" clId="{C2570391-73F1-4B78-802F-D3987272C976}"/>
    <pc:docChg chg="modSld">
      <pc:chgData name="Kevin Desai" userId="759d0333-e80f-43e9-9a9d-29343a9d66ae" providerId="ADAL" clId="{C2570391-73F1-4B78-802F-D3987272C976}" dt="2021-06-29T23:26:05.568" v="1392" actId="1035"/>
      <pc:docMkLst>
        <pc:docMk/>
      </pc:docMkLst>
      <pc:sldChg chg="modSp mod">
        <pc:chgData name="Kevin Desai" userId="759d0333-e80f-43e9-9a9d-29343a9d66ae" providerId="ADAL" clId="{C2570391-73F1-4B78-802F-D3987272C976}" dt="2021-06-15T18:46:37.880" v="1" actId="20577"/>
        <pc:sldMkLst>
          <pc:docMk/>
          <pc:sldMk cId="3636344952" sldId="256"/>
        </pc:sldMkLst>
        <pc:spChg chg="mod">
          <ac:chgData name="Kevin Desai" userId="759d0333-e80f-43e9-9a9d-29343a9d66ae" providerId="ADAL" clId="{C2570391-73F1-4B78-802F-D3987272C976}" dt="2021-06-15T18:46:37.880" v="1" actId="20577"/>
          <ac:spMkLst>
            <pc:docMk/>
            <pc:sldMk cId="3636344952" sldId="256"/>
            <ac:spMk id="6" creationId="{00000000-0000-0000-0000-000000000000}"/>
          </ac:spMkLst>
        </pc:spChg>
      </pc:sldChg>
      <pc:sldChg chg="modSp mod">
        <pc:chgData name="Kevin Desai" userId="759d0333-e80f-43e9-9a9d-29343a9d66ae" providerId="ADAL" clId="{C2570391-73F1-4B78-802F-D3987272C976}" dt="2021-06-15T18:47:41.415" v="325" actId="962"/>
        <pc:sldMkLst>
          <pc:docMk/>
          <pc:sldMk cId="2796303602" sldId="818"/>
        </pc:sldMkLst>
        <pc:picChg chg="mod">
          <ac:chgData name="Kevin Desai" userId="759d0333-e80f-43e9-9a9d-29343a9d66ae" providerId="ADAL" clId="{C2570391-73F1-4B78-802F-D3987272C976}" dt="2021-06-15T18:47:41.415" v="325" actId="962"/>
          <ac:picMkLst>
            <pc:docMk/>
            <pc:sldMk cId="2796303602" sldId="818"/>
            <ac:picMk id="3" creationId="{B4FC85F8-566A-4D41-8434-584FF4B4A533}"/>
          </ac:picMkLst>
        </pc:picChg>
      </pc:sldChg>
      <pc:sldChg chg="modSp mod">
        <pc:chgData name="Kevin Desai" userId="759d0333-e80f-43e9-9a9d-29343a9d66ae" providerId="ADAL" clId="{C2570391-73F1-4B78-802F-D3987272C976}" dt="2021-06-15T18:47:59.228" v="375" actId="962"/>
        <pc:sldMkLst>
          <pc:docMk/>
          <pc:sldMk cId="2383633643" sldId="849"/>
        </pc:sldMkLst>
        <pc:picChg chg="mod">
          <ac:chgData name="Kevin Desai" userId="759d0333-e80f-43e9-9a9d-29343a9d66ae" providerId="ADAL" clId="{C2570391-73F1-4B78-802F-D3987272C976}" dt="2021-06-15T18:47:59.228" v="375" actId="962"/>
          <ac:picMkLst>
            <pc:docMk/>
            <pc:sldMk cId="2383633643" sldId="849"/>
            <ac:picMk id="3" creationId="{EFD80566-854C-4750-AB1E-FEC11185DBC4}"/>
          </ac:picMkLst>
        </pc:picChg>
      </pc:sldChg>
      <pc:sldChg chg="modSp mod">
        <pc:chgData name="Kevin Desai" userId="759d0333-e80f-43e9-9a9d-29343a9d66ae" providerId="ADAL" clId="{C2570391-73F1-4B78-802F-D3987272C976}" dt="2021-06-15T18:48:17.962" v="437" actId="962"/>
        <pc:sldMkLst>
          <pc:docMk/>
          <pc:sldMk cId="272598230" sldId="850"/>
        </pc:sldMkLst>
        <pc:picChg chg="mod">
          <ac:chgData name="Kevin Desai" userId="759d0333-e80f-43e9-9a9d-29343a9d66ae" providerId="ADAL" clId="{C2570391-73F1-4B78-802F-D3987272C976}" dt="2021-06-15T18:48:17.962" v="437" actId="962"/>
          <ac:picMkLst>
            <pc:docMk/>
            <pc:sldMk cId="272598230" sldId="850"/>
            <ac:picMk id="3" creationId="{4DE08865-607F-4856-B040-B4094653026D}"/>
          </ac:picMkLst>
        </pc:picChg>
      </pc:sldChg>
      <pc:sldChg chg="modSp mod">
        <pc:chgData name="Kevin Desai" userId="759d0333-e80f-43e9-9a9d-29343a9d66ae" providerId="ADAL" clId="{C2570391-73F1-4B78-802F-D3987272C976}" dt="2021-06-15T18:48:44.281" v="577" actId="962"/>
        <pc:sldMkLst>
          <pc:docMk/>
          <pc:sldMk cId="3728186577" sldId="851"/>
        </pc:sldMkLst>
        <pc:picChg chg="mod">
          <ac:chgData name="Kevin Desai" userId="759d0333-e80f-43e9-9a9d-29343a9d66ae" providerId="ADAL" clId="{C2570391-73F1-4B78-802F-D3987272C976}" dt="2021-06-15T18:48:44.281" v="577" actId="962"/>
          <ac:picMkLst>
            <pc:docMk/>
            <pc:sldMk cId="3728186577" sldId="851"/>
            <ac:picMk id="3" creationId="{9DDD80D6-490F-4BAE-B924-752347B197EF}"/>
          </ac:picMkLst>
        </pc:picChg>
      </pc:sldChg>
      <pc:sldChg chg="modSp">
        <pc:chgData name="Kevin Desai" userId="759d0333-e80f-43e9-9a9d-29343a9d66ae" providerId="ADAL" clId="{C2570391-73F1-4B78-802F-D3987272C976}" dt="2021-06-15T18:47:11.701" v="133" actId="962"/>
        <pc:sldMkLst>
          <pc:docMk/>
          <pc:sldMk cId="496243520" sldId="889"/>
        </pc:sldMkLst>
        <pc:picChg chg="mod">
          <ac:chgData name="Kevin Desai" userId="759d0333-e80f-43e9-9a9d-29343a9d66ae" providerId="ADAL" clId="{C2570391-73F1-4B78-802F-D3987272C976}" dt="2021-06-15T18:47:11.701" v="133" actId="962"/>
          <ac:picMkLst>
            <pc:docMk/>
            <pc:sldMk cId="496243520" sldId="889"/>
            <ac:picMk id="1026" creationId="{03B893A6-9493-4D76-8807-883CB7E9FA69}"/>
          </ac:picMkLst>
        </pc:picChg>
      </pc:sldChg>
      <pc:sldChg chg="modSp">
        <pc:chgData name="Kevin Desai" userId="759d0333-e80f-43e9-9a9d-29343a9d66ae" providerId="ADAL" clId="{C2570391-73F1-4B78-802F-D3987272C976}" dt="2021-06-24T22:55:54.528" v="1053" actId="20577"/>
        <pc:sldMkLst>
          <pc:docMk/>
          <pc:sldMk cId="4097009182" sldId="893"/>
        </pc:sldMkLst>
        <pc:spChg chg="mod">
          <ac:chgData name="Kevin Desai" userId="759d0333-e80f-43e9-9a9d-29343a9d66ae" providerId="ADAL" clId="{C2570391-73F1-4B78-802F-D3987272C976}" dt="2021-06-24T22:55:54.528" v="1053" actId="20577"/>
          <ac:spMkLst>
            <pc:docMk/>
            <pc:sldMk cId="4097009182" sldId="893"/>
            <ac:spMk id="4" creationId="{28318B56-E9D4-5541-AA7A-7479F25888B1}"/>
          </ac:spMkLst>
        </pc:spChg>
      </pc:sldChg>
      <pc:sldChg chg="modSp mod">
        <pc:chgData name="Kevin Desai" userId="759d0333-e80f-43e9-9a9d-29343a9d66ae" providerId="ADAL" clId="{C2570391-73F1-4B78-802F-D3987272C976}" dt="2021-06-24T22:55:48.243" v="1046" actId="14100"/>
        <pc:sldMkLst>
          <pc:docMk/>
          <pc:sldMk cId="691778569" sldId="894"/>
        </pc:sldMkLst>
        <pc:spChg chg="mod">
          <ac:chgData name="Kevin Desai" userId="759d0333-e80f-43e9-9a9d-29343a9d66ae" providerId="ADAL" clId="{C2570391-73F1-4B78-802F-D3987272C976}" dt="2021-06-24T22:55:48.243" v="1046" actId="14100"/>
          <ac:spMkLst>
            <pc:docMk/>
            <pc:sldMk cId="691778569" sldId="894"/>
            <ac:spMk id="4" creationId="{28318B56-E9D4-5541-AA7A-7479F25888B1}"/>
          </ac:spMkLst>
        </pc:spChg>
      </pc:sldChg>
      <pc:sldChg chg="modSp mod">
        <pc:chgData name="Kevin Desai" userId="759d0333-e80f-43e9-9a9d-29343a9d66ae" providerId="ADAL" clId="{C2570391-73F1-4B78-802F-D3987272C976}" dt="2021-06-15T18:49:18.002" v="697" actId="962"/>
        <pc:sldMkLst>
          <pc:docMk/>
          <pc:sldMk cId="3619611701" sldId="898"/>
        </pc:sldMkLst>
        <pc:picChg chg="mod">
          <ac:chgData name="Kevin Desai" userId="759d0333-e80f-43e9-9a9d-29343a9d66ae" providerId="ADAL" clId="{C2570391-73F1-4B78-802F-D3987272C976}" dt="2021-06-15T18:49:18.002" v="697" actId="962"/>
          <ac:picMkLst>
            <pc:docMk/>
            <pc:sldMk cId="3619611701" sldId="898"/>
            <ac:picMk id="5" creationId="{00000000-0000-0000-0000-000000000000}"/>
          </ac:picMkLst>
        </pc:picChg>
      </pc:sldChg>
      <pc:sldChg chg="modSp mod">
        <pc:chgData name="Kevin Desai" userId="759d0333-e80f-43e9-9a9d-29343a9d66ae" providerId="ADAL" clId="{C2570391-73F1-4B78-802F-D3987272C976}" dt="2021-06-15T18:50:53.112" v="1038" actId="962"/>
        <pc:sldMkLst>
          <pc:docMk/>
          <pc:sldMk cId="3290845840" sldId="900"/>
        </pc:sldMkLst>
        <pc:spChg chg="mod">
          <ac:chgData name="Kevin Desai" userId="759d0333-e80f-43e9-9a9d-29343a9d66ae" providerId="ADAL" clId="{C2570391-73F1-4B78-802F-D3987272C976}" dt="2021-06-15T18:49:32.164" v="700" actId="207"/>
          <ac:spMkLst>
            <pc:docMk/>
            <pc:sldMk cId="3290845840" sldId="900"/>
            <ac:spMk id="9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49:32.164" v="700" actId="207"/>
          <ac:spMkLst>
            <pc:docMk/>
            <pc:sldMk cId="3290845840" sldId="900"/>
            <ac:spMk id="1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49:32.164" v="700" actId="207"/>
          <ac:spMkLst>
            <pc:docMk/>
            <pc:sldMk cId="3290845840" sldId="900"/>
            <ac:spMk id="11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49:32.164" v="700" actId="207"/>
          <ac:spMkLst>
            <pc:docMk/>
            <pc:sldMk cId="3290845840" sldId="900"/>
            <ac:spMk id="14" creationId="{00000000-0000-0000-0000-000000000000}"/>
          </ac:spMkLst>
        </pc:spChg>
        <pc:picChg chg="mod">
          <ac:chgData name="Kevin Desai" userId="759d0333-e80f-43e9-9a9d-29343a9d66ae" providerId="ADAL" clId="{C2570391-73F1-4B78-802F-D3987272C976}" dt="2021-06-15T18:50:53.112" v="1038" actId="962"/>
          <ac:picMkLst>
            <pc:docMk/>
            <pc:sldMk cId="3290845840" sldId="900"/>
            <ac:picMk id="4" creationId="{00000000-0000-0000-0000-000000000000}"/>
          </ac:picMkLst>
        </pc:picChg>
        <pc:picChg chg="mod">
          <ac:chgData name="Kevin Desai" userId="759d0333-e80f-43e9-9a9d-29343a9d66ae" providerId="ADAL" clId="{C2570391-73F1-4B78-802F-D3987272C976}" dt="2021-06-15T18:49:22.889" v="699" actId="962"/>
          <ac:picMkLst>
            <pc:docMk/>
            <pc:sldMk cId="3290845840" sldId="900"/>
            <ac:picMk id="6" creationId="{B4FC85F8-566A-4D41-8434-584FF4B4A533}"/>
          </ac:picMkLst>
        </pc:picChg>
      </pc:sldChg>
      <pc:sldChg chg="modSp mod">
        <pc:chgData name="Kevin Desai" userId="759d0333-e80f-43e9-9a9d-29343a9d66ae" providerId="ADAL" clId="{C2570391-73F1-4B78-802F-D3987272C976}" dt="2021-06-15T18:51:09.861" v="1041" actId="207"/>
        <pc:sldMkLst>
          <pc:docMk/>
          <pc:sldMk cId="3952210451" sldId="901"/>
        </pc:sldMkLst>
        <pc:spChg chg="mod">
          <ac:chgData name="Kevin Desai" userId="759d0333-e80f-43e9-9a9d-29343a9d66ae" providerId="ADAL" clId="{C2570391-73F1-4B78-802F-D3987272C976}" dt="2021-06-15T18:51:09.861" v="1041" actId="207"/>
          <ac:spMkLst>
            <pc:docMk/>
            <pc:sldMk cId="3952210451" sldId="901"/>
            <ac:spMk id="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51:09.861" v="1041" actId="207"/>
          <ac:spMkLst>
            <pc:docMk/>
            <pc:sldMk cId="3952210451" sldId="901"/>
            <ac:spMk id="1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51:09.861" v="1041" actId="207"/>
          <ac:spMkLst>
            <pc:docMk/>
            <pc:sldMk cId="3952210451" sldId="901"/>
            <ac:spMk id="11" creationId="{00000000-0000-0000-0000-000000000000}"/>
          </ac:spMkLst>
        </pc:spChg>
        <pc:picChg chg="mod">
          <ac:chgData name="Kevin Desai" userId="759d0333-e80f-43e9-9a9d-29343a9d66ae" providerId="ADAL" clId="{C2570391-73F1-4B78-802F-D3987272C976}" dt="2021-06-15T18:50:58.389" v="1040" actId="962"/>
          <ac:picMkLst>
            <pc:docMk/>
            <pc:sldMk cId="3952210451" sldId="901"/>
            <ac:picMk id="4" creationId="{00000000-0000-0000-0000-000000000000}"/>
          </ac:picMkLst>
        </pc:picChg>
        <pc:picChg chg="mod">
          <ac:chgData name="Kevin Desai" userId="759d0333-e80f-43e9-9a9d-29343a9d66ae" providerId="ADAL" clId="{C2570391-73F1-4B78-802F-D3987272C976}" dt="2021-06-15T18:49:42.600" v="702" actId="962"/>
          <ac:picMkLst>
            <pc:docMk/>
            <pc:sldMk cId="3952210451" sldId="901"/>
            <ac:picMk id="6" creationId="{B4FC85F8-566A-4D41-8434-584FF4B4A533}"/>
          </ac:picMkLst>
        </pc:picChg>
      </pc:sldChg>
      <pc:sldChg chg="modSp mod">
        <pc:chgData name="Kevin Desai" userId="759d0333-e80f-43e9-9a9d-29343a9d66ae" providerId="ADAL" clId="{C2570391-73F1-4B78-802F-D3987272C976}" dt="2021-06-15T18:51:23.422" v="1044" actId="207"/>
        <pc:sldMkLst>
          <pc:docMk/>
          <pc:sldMk cId="454857588" sldId="902"/>
        </pc:sldMkLst>
        <pc:spChg chg="mod">
          <ac:chgData name="Kevin Desai" userId="759d0333-e80f-43e9-9a9d-29343a9d66ae" providerId="ADAL" clId="{C2570391-73F1-4B78-802F-D3987272C976}" dt="2021-06-15T18:51:23.422" v="1044" actId="207"/>
          <ac:spMkLst>
            <pc:docMk/>
            <pc:sldMk cId="454857588" sldId="902"/>
            <ac:spMk id="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51:23.422" v="1044" actId="207"/>
          <ac:spMkLst>
            <pc:docMk/>
            <pc:sldMk cId="454857588" sldId="902"/>
            <ac:spMk id="1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15T18:51:23.422" v="1044" actId="207"/>
          <ac:spMkLst>
            <pc:docMk/>
            <pc:sldMk cId="454857588" sldId="902"/>
            <ac:spMk id="11" creationId="{00000000-0000-0000-0000-000000000000}"/>
          </ac:spMkLst>
        </pc:spChg>
        <pc:picChg chg="mod">
          <ac:chgData name="Kevin Desai" userId="759d0333-e80f-43e9-9a9d-29343a9d66ae" providerId="ADAL" clId="{C2570391-73F1-4B78-802F-D3987272C976}" dt="2021-06-15T18:51:13.175" v="1043" actId="962"/>
          <ac:picMkLst>
            <pc:docMk/>
            <pc:sldMk cId="454857588" sldId="902"/>
            <ac:picMk id="4" creationId="{00000000-0000-0000-0000-000000000000}"/>
          </ac:picMkLst>
        </pc:picChg>
        <pc:picChg chg="mod">
          <ac:chgData name="Kevin Desai" userId="759d0333-e80f-43e9-9a9d-29343a9d66ae" providerId="ADAL" clId="{C2570391-73F1-4B78-802F-D3987272C976}" dt="2021-06-15T18:49:46.762" v="704" actId="962"/>
          <ac:picMkLst>
            <pc:docMk/>
            <pc:sldMk cId="454857588" sldId="902"/>
            <ac:picMk id="6" creationId="{B4FC85F8-566A-4D41-8434-584FF4B4A533}"/>
          </ac:picMkLst>
        </pc:picChg>
      </pc:sldChg>
      <pc:sldChg chg="modSp mod">
        <pc:chgData name="Kevin Desai" userId="759d0333-e80f-43e9-9a9d-29343a9d66ae" providerId="ADAL" clId="{C2570391-73F1-4B78-802F-D3987272C976}" dt="2021-06-15T18:50:01.147" v="708" actId="962"/>
        <pc:sldMkLst>
          <pc:docMk/>
          <pc:sldMk cId="2380804215" sldId="903"/>
        </pc:sldMkLst>
        <pc:picChg chg="mod">
          <ac:chgData name="Kevin Desai" userId="759d0333-e80f-43e9-9a9d-29343a9d66ae" providerId="ADAL" clId="{C2570391-73F1-4B78-802F-D3987272C976}" dt="2021-06-15T18:50:01.147" v="708" actId="962"/>
          <ac:picMkLst>
            <pc:docMk/>
            <pc:sldMk cId="2380804215" sldId="903"/>
            <ac:picMk id="13" creationId="{EFD80566-854C-4750-AB1E-FEC11185DBC4}"/>
          </ac:picMkLst>
        </pc:picChg>
      </pc:sldChg>
      <pc:sldChg chg="modSp mod modAnim">
        <pc:chgData name="Kevin Desai" userId="759d0333-e80f-43e9-9a9d-29343a9d66ae" providerId="ADAL" clId="{C2570391-73F1-4B78-802F-D3987272C976}" dt="2021-06-29T23:26:05.568" v="1392" actId="1035"/>
        <pc:sldMkLst>
          <pc:docMk/>
          <pc:sldMk cId="3514530005" sldId="906"/>
        </pc:sldMkLst>
        <pc:spChg chg="mod">
          <ac:chgData name="Kevin Desai" userId="759d0333-e80f-43e9-9a9d-29343a9d66ae" providerId="ADAL" clId="{C2570391-73F1-4B78-802F-D3987272C976}" dt="2021-06-29T22:15:03.446" v="1057" actId="20577"/>
          <ac:spMkLst>
            <pc:docMk/>
            <pc:sldMk cId="3514530005" sldId="906"/>
            <ac:spMk id="52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8:01.937" v="1160" actId="1076"/>
          <ac:spMkLst>
            <pc:docMk/>
            <pc:sldMk cId="3514530005" sldId="906"/>
            <ac:spMk id="53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13.065" v="1144" actId="1076"/>
          <ac:spMkLst>
            <pc:docMk/>
            <pc:sldMk cId="3514530005" sldId="906"/>
            <ac:spMk id="54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8:33.865" v="1177" actId="1076"/>
          <ac:spMkLst>
            <pc:docMk/>
            <pc:sldMk cId="3514530005" sldId="906"/>
            <ac:spMk id="5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5:46.454" v="1382" actId="1035"/>
          <ac:spMkLst>
            <pc:docMk/>
            <pc:sldMk cId="3514530005" sldId="906"/>
            <ac:spMk id="59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2:15:09.230" v="1058" actId="20577"/>
          <ac:spMkLst>
            <pc:docMk/>
            <pc:sldMk cId="3514530005" sldId="906"/>
            <ac:spMk id="61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8:09.203" v="1164" actId="1076"/>
          <ac:spMkLst>
            <pc:docMk/>
            <pc:sldMk cId="3514530005" sldId="906"/>
            <ac:spMk id="63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20.550" v="1146" actId="1076"/>
          <ac:spMkLst>
            <pc:docMk/>
            <pc:sldMk cId="3514530005" sldId="906"/>
            <ac:spMk id="64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5:51.036" v="1383" actId="1035"/>
          <ac:spMkLst>
            <pc:docMk/>
            <pc:sldMk cId="3514530005" sldId="906"/>
            <ac:spMk id="6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9:40.539" v="1241" actId="6549"/>
          <ac:spMkLst>
            <pc:docMk/>
            <pc:sldMk cId="3514530005" sldId="906"/>
            <ac:spMk id="66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2:15:31.754" v="1081" actId="1037"/>
          <ac:spMkLst>
            <pc:docMk/>
            <pc:sldMk cId="3514530005" sldId="906"/>
            <ac:spMk id="7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8:22.028" v="1174" actId="1076"/>
          <ac:spMkLst>
            <pc:docMk/>
            <pc:sldMk cId="3514530005" sldId="906"/>
            <ac:spMk id="71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30.008" v="1148" actId="1076"/>
          <ac:spMkLst>
            <pc:docMk/>
            <pc:sldMk cId="3514530005" sldId="906"/>
            <ac:spMk id="72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8:53.270" v="1186" actId="1035"/>
          <ac:spMkLst>
            <pc:docMk/>
            <pc:sldMk cId="3514530005" sldId="906"/>
            <ac:spMk id="73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1:26.379" v="1371" actId="1035"/>
          <ac:spMkLst>
            <pc:docMk/>
            <pc:sldMk cId="3514530005" sldId="906"/>
            <ac:spMk id="74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1:02.770" v="1367" actId="1038"/>
          <ac:spMkLst>
            <pc:docMk/>
            <pc:sldMk cId="3514530005" sldId="906"/>
            <ac:spMk id="7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6:00.989" v="1391" actId="1035"/>
          <ac:spMkLst>
            <pc:docMk/>
            <pc:sldMk cId="3514530005" sldId="906"/>
            <ac:spMk id="77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2:15:35.147" v="1083" actId="20577"/>
          <ac:spMkLst>
            <pc:docMk/>
            <pc:sldMk cId="3514530005" sldId="906"/>
            <ac:spMk id="10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0:30.988" v="1126" actId="1076"/>
          <ac:spMkLst>
            <pc:docMk/>
            <pc:sldMk cId="3514530005" sldId="906"/>
            <ac:spMk id="101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35.918" v="1150" actId="1076"/>
          <ac:spMkLst>
            <pc:docMk/>
            <pc:sldMk cId="3514530005" sldId="906"/>
            <ac:spMk id="102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9:01.234" v="1203" actId="1037"/>
          <ac:spMkLst>
            <pc:docMk/>
            <pc:sldMk cId="3514530005" sldId="906"/>
            <ac:spMk id="103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0:12.498" v="1293" actId="1037"/>
          <ac:spMkLst>
            <pc:docMk/>
            <pc:sldMk cId="3514530005" sldId="906"/>
            <ac:spMk id="104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0:54.836" v="1365" actId="1076"/>
          <ac:spMkLst>
            <pc:docMk/>
            <pc:sldMk cId="3514530005" sldId="906"/>
            <ac:spMk id="105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6:05.568" v="1392" actId="1035"/>
          <ac:spMkLst>
            <pc:docMk/>
            <pc:sldMk cId="3514530005" sldId="906"/>
            <ac:spMk id="107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2:15:39.884" v="1087" actId="20577"/>
          <ac:spMkLst>
            <pc:docMk/>
            <pc:sldMk cId="3514530005" sldId="906"/>
            <ac:spMk id="108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0:42.940" v="1128" actId="1076"/>
          <ac:spMkLst>
            <pc:docMk/>
            <pc:sldMk cId="3514530005" sldId="906"/>
            <ac:spMk id="109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41.568" v="1152" actId="1076"/>
          <ac:spMkLst>
            <pc:docMk/>
            <pc:sldMk cId="3514530005" sldId="906"/>
            <ac:spMk id="11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9:22.797" v="1239" actId="1038"/>
          <ac:spMkLst>
            <pc:docMk/>
            <pc:sldMk cId="3514530005" sldId="906"/>
            <ac:spMk id="111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0:23.004" v="1317" actId="1037"/>
          <ac:spMkLst>
            <pc:docMk/>
            <pc:sldMk cId="3514530005" sldId="906"/>
            <ac:spMk id="112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6:40.717" v="1139" actId="1076"/>
          <ac:spMkLst>
            <pc:docMk/>
            <pc:sldMk cId="3514530005" sldId="906"/>
            <ac:spMk id="113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1:20.300" v="1136" actId="1076"/>
          <ac:spMkLst>
            <pc:docMk/>
            <pc:sldMk cId="3514530005" sldId="906"/>
            <ac:spMk id="117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7:45.781" v="1153" actId="1076"/>
          <ac:spMkLst>
            <pc:docMk/>
            <pc:sldMk cId="3514530005" sldId="906"/>
            <ac:spMk id="118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9:16.772" v="1238" actId="1038"/>
          <ac:spMkLst>
            <pc:docMk/>
            <pc:sldMk cId="3514530005" sldId="906"/>
            <ac:spMk id="119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20:30.851" v="1344" actId="1038"/>
          <ac:spMkLst>
            <pc:docMk/>
            <pc:sldMk cId="3514530005" sldId="906"/>
            <ac:spMk id="120" creationId="{00000000-0000-0000-0000-000000000000}"/>
          </ac:spMkLst>
        </pc:spChg>
        <pc:spChg chg="mod">
          <ac:chgData name="Kevin Desai" userId="759d0333-e80f-43e9-9a9d-29343a9d66ae" providerId="ADAL" clId="{C2570391-73F1-4B78-802F-D3987272C976}" dt="2021-06-29T23:16:17.622" v="1137" actId="1076"/>
          <ac:spMkLst>
            <pc:docMk/>
            <pc:sldMk cId="3514530005" sldId="906"/>
            <ac:spMk id="121" creationId="{00000000-0000-0000-0000-000000000000}"/>
          </ac:spMkLst>
        </pc:spChg>
        <pc:picChg chg="mod">
          <ac:chgData name="Kevin Desai" userId="759d0333-e80f-43e9-9a9d-29343a9d66ae" providerId="ADAL" clId="{C2570391-73F1-4B78-802F-D3987272C976}" dt="2021-06-15T18:49:58.733" v="706" actId="962"/>
          <ac:picMkLst>
            <pc:docMk/>
            <pc:sldMk cId="3514530005" sldId="906"/>
            <ac:picMk id="13" creationId="{EFD80566-854C-4750-AB1E-FEC11185DBC4}"/>
          </ac:picMkLst>
        </pc:picChg>
      </pc:sldChg>
    </pc:docChg>
  </pc:docChgLst>
  <pc:docChgLst>
    <pc:chgData name="Kevin Desai" userId="759d0333-e80f-43e9-9a9d-29343a9d66ae" providerId="ADAL" clId="{42DBDE7D-86FD-4265-9E8F-A5D9CAF54C1F}"/>
    <pc:docChg chg="modSld">
      <pc:chgData name="Kevin Desai" userId="759d0333-e80f-43e9-9a9d-29343a9d66ae" providerId="ADAL" clId="{42DBDE7D-86FD-4265-9E8F-A5D9CAF54C1F}" dt="2020-07-29T14:13:44.608" v="2" actId="1076"/>
      <pc:docMkLst>
        <pc:docMk/>
      </pc:docMkLst>
      <pc:sldChg chg="modSp mod">
        <pc:chgData name="Kevin Desai" userId="759d0333-e80f-43e9-9a9d-29343a9d66ae" providerId="ADAL" clId="{42DBDE7D-86FD-4265-9E8F-A5D9CAF54C1F}" dt="2020-07-29T14:13:44.608" v="2" actId="1076"/>
        <pc:sldMkLst>
          <pc:docMk/>
          <pc:sldMk cId="454857588" sldId="902"/>
        </pc:sldMkLst>
        <pc:spChg chg="mod">
          <ac:chgData name="Kevin Desai" userId="759d0333-e80f-43e9-9a9d-29343a9d66ae" providerId="ADAL" clId="{42DBDE7D-86FD-4265-9E8F-A5D9CAF54C1F}" dt="2020-07-29T14:13:44.608" v="2" actId="1076"/>
          <ac:spMkLst>
            <pc:docMk/>
            <pc:sldMk cId="454857588" sldId="902"/>
            <ac:spMk id="8" creationId="{773D2D38-1C6D-4F9F-BED4-EAA6DE77035C}"/>
          </ac:spMkLst>
        </pc:spChg>
      </pc:sldChg>
    </pc:docChg>
  </pc:docChgLst>
  <pc:docChgLst>
    <pc:chgData name="Kevin Desai" userId="759d0333-e80f-43e9-9a9d-29343a9d66ae" providerId="ADAL" clId="{9BC718E2-805E-472F-B4C4-0716A3594DBD}"/>
    <pc:docChg chg="undo custSel delSld modSld">
      <pc:chgData name="Kevin Desai" userId="759d0333-e80f-43e9-9a9d-29343a9d66ae" providerId="ADAL" clId="{9BC718E2-805E-472F-B4C4-0716A3594DBD}" dt="2020-06-20T18:15:58.687" v="27" actId="20577"/>
      <pc:docMkLst>
        <pc:docMk/>
      </pc:docMkLst>
      <pc:sldChg chg="modSp mod">
        <pc:chgData name="Kevin Desai" userId="759d0333-e80f-43e9-9a9d-29343a9d66ae" providerId="ADAL" clId="{9BC718E2-805E-472F-B4C4-0716A3594DBD}" dt="2020-06-20T16:40:45.664" v="20" actId="20577"/>
        <pc:sldMkLst>
          <pc:docMk/>
          <pc:sldMk cId="3636344952" sldId="256"/>
        </pc:sldMkLst>
        <pc:spChg chg="mod">
          <ac:chgData name="Kevin Desai" userId="759d0333-e80f-43e9-9a9d-29343a9d66ae" providerId="ADAL" clId="{9BC718E2-805E-472F-B4C4-0716A3594DBD}" dt="2020-06-20T16:40:45.664" v="20" actId="20577"/>
          <ac:spMkLst>
            <pc:docMk/>
            <pc:sldMk cId="3636344952" sldId="256"/>
            <ac:spMk id="6" creationId="{00000000-0000-0000-0000-000000000000}"/>
          </ac:spMkLst>
        </pc:spChg>
      </pc:sldChg>
      <pc:sldChg chg="modSp modAnim">
        <pc:chgData name="Kevin Desai" userId="759d0333-e80f-43e9-9a9d-29343a9d66ae" providerId="ADAL" clId="{9BC718E2-805E-472F-B4C4-0716A3594DBD}" dt="2020-06-20T18:15:58.687" v="27" actId="20577"/>
        <pc:sldMkLst>
          <pc:docMk/>
          <pc:sldMk cId="4141469496" sldId="890"/>
        </pc:sldMkLst>
        <pc:spChg chg="mod">
          <ac:chgData name="Kevin Desai" userId="759d0333-e80f-43e9-9a9d-29343a9d66ae" providerId="ADAL" clId="{9BC718E2-805E-472F-B4C4-0716A3594DBD}" dt="2020-06-20T18:15:58.687" v="27" actId="20577"/>
          <ac:spMkLst>
            <pc:docMk/>
            <pc:sldMk cId="4141469496" sldId="890"/>
            <ac:spMk id="7" creationId="{C7B7051A-3A3C-49BD-831F-2E4ADFA7FC7B}"/>
          </ac:spMkLst>
        </pc:spChg>
      </pc:sldChg>
      <pc:sldChg chg="modSp mod">
        <pc:chgData name="Kevin Desai" userId="759d0333-e80f-43e9-9a9d-29343a9d66ae" providerId="ADAL" clId="{9BC718E2-805E-472F-B4C4-0716A3594DBD}" dt="2020-06-20T17:18:13.739" v="22" actId="14100"/>
        <pc:sldMkLst>
          <pc:docMk/>
          <pc:sldMk cId="3545777641" sldId="891"/>
        </pc:sldMkLst>
        <pc:spChg chg="mod">
          <ac:chgData name="Kevin Desai" userId="759d0333-e80f-43e9-9a9d-29343a9d66ae" providerId="ADAL" clId="{9BC718E2-805E-472F-B4C4-0716A3594DBD}" dt="2020-06-20T17:18:13.739" v="22" actId="14100"/>
          <ac:spMkLst>
            <pc:docMk/>
            <pc:sldMk cId="3545777641" sldId="891"/>
            <ac:spMk id="4" creationId="{28318B56-E9D4-5541-AA7A-7479F25888B1}"/>
          </ac:spMkLst>
        </pc:spChg>
      </pc:sldChg>
      <pc:sldChg chg="del">
        <pc:chgData name="Kevin Desai" userId="759d0333-e80f-43e9-9a9d-29343a9d66ae" providerId="ADAL" clId="{9BC718E2-805E-472F-B4C4-0716A3594DBD}" dt="2020-06-20T17:19:13.357" v="23" actId="47"/>
        <pc:sldMkLst>
          <pc:docMk/>
          <pc:sldMk cId="2213495906" sldId="9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B2E177-987A-4840-9AF6-2D00890AA7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84168-1E86-DD41-92A7-9FDA968FC6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15E27-BAA5-0840-B40A-D116609DFC72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878C8-422B-0444-8147-546A63447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8725-17B2-5844-BED7-7D6DF7EB86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83621-EB54-A54B-AAA8-2DE1B69F9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84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D3796-23E8-104B-A8F1-4535EEA83C3F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D3EB9-6A9C-7744-8C50-334D3C6F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1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AD3EB9-6A9C-7744-8C50-334D3C6F80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4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repeatedly chooses an unassigned variable, and then tries all values in the domain of that variable in turn, trying to find a solution. If an inconsistency is detected, then BACKTRACK returns failure, causing the previous call to try another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AD3EB9-6A9C-7744-8C50-334D3C6F80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2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AD3EB9-6A9C-7744-8C50-334D3C6F80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7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585F-0CF1-1F4F-84C4-AD0B705AB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E557D-ED90-0E48-A522-D8773FE9F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DA32B-31C9-AA4A-A009-F6C9038F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1F682-1123-5B49-987E-F2C8DCF0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EB4FD-FBEF-064B-A484-68A64E51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2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9D93-AFA0-8B44-AA81-3F33B0634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5191-B851-C744-9617-8FABDB20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CBE9F-203F-3D41-894A-E851FEEE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7C65D-CB01-F249-B88A-A157B886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D8D8-9C5A-FB47-826E-B0F1257E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1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21AB-A524-B04B-9436-848769D1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317E9-BE0C-4341-ABA9-75B692B31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AECB-495D-C142-B8CB-4716B19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69206-646B-5C40-A63D-1625A5B2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8BC07-82DD-E541-BD18-81E3F381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7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AD16-4342-7A47-9C30-C6DD3A99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5F88-93F5-5F44-A6B9-D0CDD50DF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05218-6D53-784C-A71D-DEECCC114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2E2FA-D06F-5D45-9388-A76E67F6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A7C9D-7A98-F940-A381-66492157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0E2D4-6A60-C846-82EB-9D999831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96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6D41-9383-014D-A3AB-231B95DE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5C17C-3372-E54D-AD48-F52E5B9B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2296C-2167-0944-BEC3-8BC845C58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B018C-2B22-A44E-BEA5-D997A731F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9147E-F348-604F-A5A2-F19497731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FB2AE-53B9-D345-9432-723E69C3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763FB-F566-894C-87F9-0E60239C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24B8F-27B8-3A46-81DF-8C26FC97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6B4A-1E46-B942-875F-C319464E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809A9-39D1-0548-9E3F-B77DE80C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E5537-6E00-A04F-B62C-5DC4E9AF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868F2-2654-8B4A-8A09-F658E9D7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6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ED8D9-B1B5-8342-BB96-D3551452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D4AD1-2991-7A45-85DC-5A729CFC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14F54-14C1-8947-B489-B4EAB019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22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D67B-7986-D149-A5D5-03980A97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6D77-AFFC-F540-99BF-74778AACC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83780-80E5-DB4F-8F21-2458F8349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32675-4D6B-6749-881A-03E038C5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1309C-2D70-724F-BBA6-C523A766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F0E26-9D4A-D040-BD25-65177069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6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D4FD-9AAB-EA4D-9E38-578ED03C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D3E5B-9A51-7243-BE67-4EE80BAE9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66E5C-DA82-324E-9805-3C65918CF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64B22-4FE5-8C45-91E4-71D7A010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E4AF8-2724-4B49-8CFD-82E27568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3C1D4-6425-7847-8239-EFB60873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9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74BA-1F42-FD46-8A45-840E10F9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B9715-9B85-4A4C-AA6A-97E9F005D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EAFE-A2D4-294F-AD4A-ECF28999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D1A3-EC78-1847-BB72-C4832E94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1AFD-D8CA-3B47-8D82-DF940CE7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9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318E1-F41C-2841-BB1E-C5CCF7C33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4F717-A9E5-6447-BD42-E067839E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91992-7312-C647-B304-79B7EE32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6C2EE-0123-194C-AC12-89053B4D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31318-7347-9140-8C43-DD1EE261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6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E3B09-C8CF-6B49-BB4B-8EE3E0C43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14BC-0A3B-3343-BF78-F910476C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C5E7A-EF0F-CC47-A0C5-774487AF8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22D7D-CF39-AD44-86A4-37B4F95737CD}" type="datetimeFigureOut">
              <a:rPr lang="en-US" smtClean="0"/>
              <a:t>6/29/2021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C9D5-1080-2243-9E85-06A9BC24F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92FFD-E631-524F-AE69-5D5DF3FDF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596E2-4D9B-4943-83A9-2CB96C610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3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3179" y="1206471"/>
            <a:ext cx="11355977" cy="967061"/>
          </a:xfrm>
        </p:spPr>
        <p:txBody>
          <a:bodyPr>
            <a:normAutofit/>
          </a:bodyPr>
          <a:lstStyle/>
          <a:p>
            <a:r>
              <a:rPr lang="en-US" dirty="0"/>
              <a:t>Constraint Satisfaction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4843" y="3271856"/>
            <a:ext cx="359265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CS 3793/5233 – AI</a:t>
            </a:r>
          </a:p>
          <a:p>
            <a:pPr algn="ctr"/>
            <a:r>
              <a:rPr lang="en-US" sz="3600" dirty="0">
                <a:latin typeface="+mj-lt"/>
              </a:rPr>
              <a:t>Summer 2021</a:t>
            </a:r>
          </a:p>
          <a:p>
            <a:pPr algn="ctr"/>
            <a:endParaRPr lang="en-US" sz="3600" dirty="0">
              <a:latin typeface="+mj-lt"/>
            </a:endParaRPr>
          </a:p>
          <a:p>
            <a:pPr algn="ctr"/>
            <a:r>
              <a:rPr lang="en-US" sz="3600" dirty="0">
                <a:latin typeface="+mj-lt"/>
              </a:rPr>
              <a:t>-Kevin Desai</a:t>
            </a:r>
          </a:p>
        </p:txBody>
      </p:sp>
    </p:spTree>
    <p:extLst>
      <p:ext uri="{BB962C8B-B14F-4D97-AF65-F5344CB8AC3E}">
        <p14:creationId xmlns:p14="http://schemas.microsoft.com/office/powerpoint/2010/main" val="363634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State Representations</a:t>
            </a:r>
          </a:p>
        </p:txBody>
      </p:sp>
      <p:pic>
        <p:nvPicPr>
          <p:cNvPr id="1026" name="Picture 2" descr="state representations - atomic, factored, structured">
            <a:extLst>
              <a:ext uri="{FF2B5EF4-FFF2-40B4-BE49-F238E27FC236}">
                <a16:creationId xmlns:a16="http://schemas.microsoft.com/office/drawing/2014/main" id="{03B893A6-9493-4D76-8807-883CB7E9F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29813"/>
            <a:ext cx="10515600" cy="569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24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Satisfaction Problems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548" y="1349687"/>
            <a:ext cx="10138904" cy="4887339"/>
          </a:xfrm>
        </p:spPr>
        <p:txBody>
          <a:bodyPr>
            <a:noAutofit/>
          </a:bodyPr>
          <a:lstStyle/>
          <a:p>
            <a:r>
              <a:rPr lang="en-US" dirty="0"/>
              <a:t>Until now – atomic state representations</a:t>
            </a:r>
          </a:p>
          <a:p>
            <a:r>
              <a:rPr lang="en-US" dirty="0"/>
              <a:t>Factored representation</a:t>
            </a:r>
          </a:p>
          <a:p>
            <a:pPr lvl="1"/>
            <a:r>
              <a:rPr lang="en-US" dirty="0"/>
              <a:t>Set of variables</a:t>
            </a:r>
          </a:p>
          <a:p>
            <a:pPr lvl="1"/>
            <a:r>
              <a:rPr lang="en-US" dirty="0"/>
              <a:t>Each variable has a value</a:t>
            </a:r>
          </a:p>
          <a:p>
            <a:r>
              <a:rPr lang="en-US" dirty="0"/>
              <a:t>Constraint Satisfaction Problem or CSP</a:t>
            </a:r>
          </a:p>
          <a:p>
            <a:pPr lvl="1"/>
            <a:r>
              <a:rPr lang="en-US" dirty="0"/>
              <a:t>A problem is solved when each variable has a value that satisfies all the constraints on the variable</a:t>
            </a:r>
          </a:p>
          <a:p>
            <a:r>
              <a:rPr lang="en-US" dirty="0"/>
              <a:t>CSPs use ‘general-purpose’ rather than ‘problem-specific’ heuristics to enable solution to complex problems</a:t>
            </a:r>
          </a:p>
          <a:p>
            <a:r>
              <a:rPr lang="en-US" dirty="0"/>
              <a:t>Eliminate large portions of the search space all at once by identifying variable/value combinations that violate the constraints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9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CSP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066" y="798060"/>
            <a:ext cx="10769867" cy="5922780"/>
          </a:xfrm>
        </p:spPr>
        <p:txBody>
          <a:bodyPr>
            <a:noAutofit/>
          </a:bodyPr>
          <a:lstStyle/>
          <a:p>
            <a:r>
              <a:rPr lang="en-US" dirty="0"/>
              <a:t>3 main components of a CSP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: set of variables, {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. . . , X</a:t>
            </a:r>
            <a:r>
              <a:rPr lang="en-US" i="1" baseline="-25000" dirty="0"/>
              <a:t>n</a:t>
            </a:r>
            <a:r>
              <a:rPr lang="en-US" dirty="0"/>
              <a:t>}.</a:t>
            </a:r>
          </a:p>
          <a:p>
            <a:pPr lvl="1"/>
            <a:r>
              <a:rPr lang="en-US" i="1" dirty="0"/>
              <a:t>D</a:t>
            </a:r>
            <a:r>
              <a:rPr lang="en-US" dirty="0"/>
              <a:t>: set of domains, {</a:t>
            </a:r>
            <a:r>
              <a:rPr lang="en-US" i="1" dirty="0"/>
              <a:t>D</a:t>
            </a:r>
            <a:r>
              <a:rPr lang="en-US" i="1" baseline="-25000" dirty="0"/>
              <a:t>1</a:t>
            </a:r>
            <a:r>
              <a:rPr lang="en-US" i="1" dirty="0"/>
              <a:t>, . . . , </a:t>
            </a:r>
            <a:r>
              <a:rPr lang="en-US" i="1" dirty="0" err="1"/>
              <a:t>D</a:t>
            </a:r>
            <a:r>
              <a:rPr lang="en-US" i="1" baseline="-25000" dirty="0" err="1"/>
              <a:t>n</a:t>
            </a:r>
            <a:r>
              <a:rPr lang="en-US" dirty="0"/>
              <a:t>}, one for each variable.</a:t>
            </a:r>
          </a:p>
          <a:p>
            <a:pPr lvl="1"/>
            <a:r>
              <a:rPr lang="en-US" i="1" dirty="0"/>
              <a:t>C</a:t>
            </a:r>
            <a:r>
              <a:rPr lang="en-US" dirty="0"/>
              <a:t>: set of constraints that specify allowable combinations of values.</a:t>
            </a:r>
          </a:p>
          <a:p>
            <a:r>
              <a:rPr lang="en-US" dirty="0"/>
              <a:t>Each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dirty="0"/>
              <a:t> consists of a set of allowable values {</a:t>
            </a:r>
            <a:r>
              <a:rPr lang="en-US" i="1" dirty="0"/>
              <a:t>v</a:t>
            </a:r>
            <a:r>
              <a:rPr lang="en-US" i="1" baseline="-25000" dirty="0"/>
              <a:t>1</a:t>
            </a:r>
            <a:r>
              <a:rPr lang="en-US" i="1" dirty="0"/>
              <a:t>, . . . , </a:t>
            </a:r>
            <a:r>
              <a:rPr lang="en-US" i="1" dirty="0" err="1"/>
              <a:t>v</a:t>
            </a:r>
            <a:r>
              <a:rPr lang="en-US" i="1" baseline="-25000" dirty="0" err="1"/>
              <a:t>k</a:t>
            </a:r>
            <a:r>
              <a:rPr lang="en-US" dirty="0"/>
              <a:t>} for variable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endParaRPr lang="en-US" i="1" dirty="0"/>
          </a:p>
          <a:p>
            <a:r>
              <a:rPr lang="en-US" dirty="0"/>
              <a:t>Each </a:t>
            </a:r>
            <a:r>
              <a:rPr lang="en-US" i="1" dirty="0"/>
              <a:t>C</a:t>
            </a:r>
            <a:r>
              <a:rPr lang="en-US" i="1" baseline="-25000" dirty="0"/>
              <a:t>i</a:t>
            </a:r>
            <a:r>
              <a:rPr lang="en-US" dirty="0"/>
              <a:t> consists of a pair &lt;</a:t>
            </a:r>
            <a:r>
              <a:rPr lang="en-US" i="1" dirty="0"/>
              <a:t>scope, </a:t>
            </a:r>
            <a:r>
              <a:rPr lang="en-US" i="1" dirty="0" err="1"/>
              <a:t>rel</a:t>
            </a:r>
            <a:r>
              <a:rPr lang="en-US" dirty="0"/>
              <a:t>&gt;</a:t>
            </a:r>
          </a:p>
          <a:p>
            <a:pPr lvl="1"/>
            <a:r>
              <a:rPr lang="en-US" i="1" dirty="0"/>
              <a:t>scope</a:t>
            </a:r>
            <a:r>
              <a:rPr lang="en-US" dirty="0"/>
              <a:t> – tuple of variables that participate in the constraint</a:t>
            </a:r>
          </a:p>
          <a:p>
            <a:pPr lvl="1"/>
            <a:r>
              <a:rPr lang="en-US" i="1" dirty="0" err="1"/>
              <a:t>rel</a:t>
            </a:r>
            <a:r>
              <a:rPr lang="en-US" dirty="0"/>
              <a:t> – relation that defines the values that those variables can take on</a:t>
            </a:r>
            <a:endParaRPr lang="en-US" i="1" dirty="0"/>
          </a:p>
          <a:p>
            <a:r>
              <a:rPr lang="en-US" dirty="0"/>
              <a:t>Solve a CSP</a:t>
            </a:r>
          </a:p>
          <a:p>
            <a:pPr lvl="1"/>
            <a:r>
              <a:rPr lang="en-US" dirty="0"/>
              <a:t>Define the state space – by an assignment of values to some or all variables</a:t>
            </a:r>
          </a:p>
          <a:p>
            <a:pPr lvl="1"/>
            <a:r>
              <a:rPr lang="en-US" dirty="0"/>
              <a:t>Consistent or legal assignment – does not violate any constraints</a:t>
            </a:r>
          </a:p>
          <a:p>
            <a:pPr lvl="1"/>
            <a:r>
              <a:rPr lang="en-US" dirty="0"/>
              <a:t>Complete assignment – every variable is assigned</a:t>
            </a:r>
          </a:p>
          <a:p>
            <a:pPr lvl="1"/>
            <a:r>
              <a:rPr lang="en-US" dirty="0"/>
              <a:t>Solution to CSP – complete and consistent assignment</a:t>
            </a:r>
          </a:p>
          <a:p>
            <a:pPr lvl="1"/>
            <a:r>
              <a:rPr lang="en-US" dirty="0"/>
              <a:t>Partial assignment – assigns values to only some of the variables</a:t>
            </a:r>
          </a:p>
        </p:txBody>
      </p:sp>
    </p:spTree>
    <p:extLst>
      <p:ext uri="{BB962C8B-B14F-4D97-AF65-F5344CB8AC3E}">
        <p14:creationId xmlns:p14="http://schemas.microsoft.com/office/powerpoint/2010/main" val="66224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CSP – Map Coloring</a:t>
            </a:r>
          </a:p>
        </p:txBody>
      </p:sp>
      <p:pic>
        <p:nvPicPr>
          <p:cNvPr id="3" name="Picture 2" descr="Australia territory map for the map coloring constraint satisfaction problem">
            <a:extLst>
              <a:ext uri="{FF2B5EF4-FFF2-40B4-BE49-F238E27FC236}">
                <a16:creationId xmlns:a16="http://schemas.microsoft.com/office/drawing/2014/main" id="{B4FC85F8-566A-4D41-8434-584FF4B4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7" y="1057809"/>
            <a:ext cx="6645963" cy="56630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71A9BB-ED67-4461-A531-7B7FFD47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6850" y="1057808"/>
            <a:ext cx="4979407" cy="5663031"/>
          </a:xfrm>
        </p:spPr>
        <p:txBody>
          <a:bodyPr>
            <a:noAutofit/>
          </a:bodyPr>
          <a:lstStyle/>
          <a:p>
            <a:r>
              <a:rPr lang="en-US" dirty="0"/>
              <a:t>Color each territory of Australia with Red, Green or Blue</a:t>
            </a:r>
          </a:p>
          <a:p>
            <a:pPr lvl="1"/>
            <a:r>
              <a:rPr lang="en-US" dirty="0"/>
              <a:t>Constraint – no neighboring regions have the same color</a:t>
            </a:r>
          </a:p>
          <a:p>
            <a:r>
              <a:rPr lang="en-US" dirty="0"/>
              <a:t>X = {WA, NT, Q, NSW, V, SA, T}</a:t>
            </a:r>
          </a:p>
          <a:p>
            <a:r>
              <a:rPr lang="en-US" dirty="0"/>
              <a:t>D</a:t>
            </a:r>
            <a:r>
              <a:rPr lang="en-US" baseline="-25000" dirty="0"/>
              <a:t>i</a:t>
            </a:r>
            <a:r>
              <a:rPr lang="en-US" dirty="0"/>
              <a:t> = {red, green, blue}</a:t>
            </a:r>
          </a:p>
          <a:p>
            <a:r>
              <a:rPr lang="en-US" dirty="0"/>
              <a:t>Constraints</a:t>
            </a:r>
          </a:p>
          <a:p>
            <a:pPr lvl="1"/>
            <a:r>
              <a:rPr lang="en-US" dirty="0"/>
              <a:t>C = {SA ≠ WA, SA ≠ NT, SA ≠ Q, SA ≠ NSW, SA ≠ V, WA ≠ NT, NT ≠ Q, Q ≠ NSW, NSW ≠ V}</a:t>
            </a:r>
          </a:p>
          <a:p>
            <a:r>
              <a:rPr lang="en-US" dirty="0"/>
              <a:t>One of many possible solutions</a:t>
            </a:r>
          </a:p>
          <a:p>
            <a:pPr lvl="1"/>
            <a:r>
              <a:rPr lang="en-US" dirty="0"/>
              <a:t>{WA = red, NT = green, Q = red, NSW = green, V = red, SA = blue, T = red}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0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CSP as Constraint Graph</a:t>
            </a:r>
          </a:p>
        </p:txBody>
      </p:sp>
      <p:pic>
        <p:nvPicPr>
          <p:cNvPr id="3" name="Picture 2" descr="Australia territory constraint graph for the map coloring constraint satisfaction problem">
            <a:extLst>
              <a:ext uri="{FF2B5EF4-FFF2-40B4-BE49-F238E27FC236}">
                <a16:creationId xmlns:a16="http://schemas.microsoft.com/office/drawing/2014/main" id="{EFD80566-854C-4750-AB1E-FEC11185D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3" y="984079"/>
            <a:ext cx="6573601" cy="573676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6850" y="1603665"/>
            <a:ext cx="4979407" cy="3650670"/>
          </a:xfrm>
        </p:spPr>
        <p:txBody>
          <a:bodyPr>
            <a:noAutofit/>
          </a:bodyPr>
          <a:lstStyle/>
          <a:p>
            <a:r>
              <a:rPr lang="en-US" dirty="0"/>
              <a:t>After expanding SA, in normal search (without constraints) assignments possible –</a:t>
            </a:r>
          </a:p>
          <a:p>
            <a:pPr lvl="1"/>
            <a:r>
              <a:rPr lang="en-US" dirty="0"/>
              <a:t>3^5 = 243</a:t>
            </a:r>
          </a:p>
          <a:p>
            <a:r>
              <a:rPr lang="en-US" dirty="0"/>
              <a:t>With constraints –</a:t>
            </a:r>
          </a:p>
          <a:p>
            <a:pPr lvl="1"/>
            <a:r>
              <a:rPr lang="en-US" dirty="0"/>
              <a:t>SA = blue</a:t>
            </a:r>
          </a:p>
          <a:p>
            <a:pPr lvl="1"/>
            <a:r>
              <a:rPr lang="en-US" dirty="0"/>
              <a:t>Possible values for the 5 successors can be 2 (red/green)</a:t>
            </a:r>
          </a:p>
          <a:p>
            <a:pPr lvl="1"/>
            <a:r>
              <a:rPr lang="en-US" dirty="0"/>
              <a:t>2^5 = 32 assignments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3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CSP – Job-shop Scheduling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71A9BB-ED67-4461-A531-7B7FFD47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5848"/>
            <a:ext cx="5371531" cy="5663031"/>
          </a:xfrm>
        </p:spPr>
        <p:txBody>
          <a:bodyPr>
            <a:noAutofit/>
          </a:bodyPr>
          <a:lstStyle/>
          <a:p>
            <a:r>
              <a:rPr lang="en-US" dirty="0"/>
              <a:t>Small car assembly with 15 tasks</a:t>
            </a:r>
          </a:p>
          <a:p>
            <a:pPr lvl="1"/>
            <a:r>
              <a:rPr lang="en-US" dirty="0"/>
              <a:t>install axles (front and back), affix all four wheels (right and left, front and back), tighten nuts for each wheel, affix hubcaps, and inspect the final assembly</a:t>
            </a:r>
          </a:p>
          <a:p>
            <a:pPr lvl="1"/>
            <a:r>
              <a:rPr lang="en-US" dirty="0"/>
              <a:t>X = {</a:t>
            </a:r>
            <a:r>
              <a:rPr lang="en-US" dirty="0" err="1"/>
              <a:t>Axle</a:t>
            </a:r>
            <a:r>
              <a:rPr lang="en-US" baseline="-25000" dirty="0" err="1"/>
              <a:t>F</a:t>
            </a:r>
            <a:r>
              <a:rPr lang="en-US" dirty="0"/>
              <a:t>, </a:t>
            </a:r>
            <a:r>
              <a:rPr lang="en-US" dirty="0" err="1"/>
              <a:t>Axle</a:t>
            </a:r>
            <a:r>
              <a:rPr lang="en-US" baseline="-25000" dirty="0" err="1"/>
              <a:t>B</a:t>
            </a:r>
            <a:r>
              <a:rPr lang="en-US" dirty="0"/>
              <a:t>, </a:t>
            </a:r>
            <a:r>
              <a:rPr lang="en-US" dirty="0" err="1"/>
              <a:t>Wheel</a:t>
            </a:r>
            <a:r>
              <a:rPr lang="en-US" baseline="-25000" dirty="0" err="1"/>
              <a:t>RF</a:t>
            </a:r>
            <a:r>
              <a:rPr lang="en-US" dirty="0"/>
              <a:t>, </a:t>
            </a:r>
            <a:r>
              <a:rPr lang="en-US" dirty="0" err="1"/>
              <a:t>Wheel</a:t>
            </a:r>
            <a:r>
              <a:rPr lang="en-US" baseline="-25000" dirty="0" err="1"/>
              <a:t>LF</a:t>
            </a:r>
            <a:r>
              <a:rPr lang="en-US" dirty="0"/>
              <a:t>, </a:t>
            </a:r>
            <a:r>
              <a:rPr lang="en-US" dirty="0" err="1"/>
              <a:t>Wheel</a:t>
            </a:r>
            <a:r>
              <a:rPr lang="en-US" baseline="-25000" dirty="0" err="1"/>
              <a:t>RB</a:t>
            </a:r>
            <a:r>
              <a:rPr lang="en-US" dirty="0"/>
              <a:t>, </a:t>
            </a:r>
            <a:r>
              <a:rPr lang="en-US" dirty="0" err="1"/>
              <a:t>Wheel</a:t>
            </a:r>
            <a:r>
              <a:rPr lang="en-US" baseline="-25000" dirty="0" err="1"/>
              <a:t>LB</a:t>
            </a:r>
            <a:r>
              <a:rPr lang="en-US" dirty="0"/>
              <a:t>, </a:t>
            </a:r>
            <a:r>
              <a:rPr lang="en-US" dirty="0" err="1"/>
              <a:t>Nuts</a:t>
            </a:r>
            <a:r>
              <a:rPr lang="en-US" baseline="-25000" dirty="0" err="1"/>
              <a:t>RF</a:t>
            </a:r>
            <a:r>
              <a:rPr lang="en-US" dirty="0"/>
              <a:t>, </a:t>
            </a:r>
            <a:r>
              <a:rPr lang="en-US" dirty="0" err="1"/>
              <a:t>Nuts</a:t>
            </a:r>
            <a:r>
              <a:rPr lang="en-US" baseline="-25000" dirty="0" err="1"/>
              <a:t>LF</a:t>
            </a:r>
            <a:r>
              <a:rPr lang="en-US" dirty="0"/>
              <a:t>, </a:t>
            </a:r>
            <a:r>
              <a:rPr lang="en-US" dirty="0" err="1"/>
              <a:t>Nuts</a:t>
            </a:r>
            <a:r>
              <a:rPr lang="en-US" baseline="-25000" dirty="0" err="1"/>
              <a:t>RB</a:t>
            </a:r>
            <a:r>
              <a:rPr lang="en-US" dirty="0"/>
              <a:t>, </a:t>
            </a:r>
            <a:r>
              <a:rPr lang="en-US" dirty="0" err="1"/>
              <a:t>Nuts</a:t>
            </a:r>
            <a:r>
              <a:rPr lang="en-US" baseline="-25000" dirty="0" err="1"/>
              <a:t>LB</a:t>
            </a:r>
            <a:r>
              <a:rPr lang="en-US" dirty="0"/>
              <a:t>, </a:t>
            </a:r>
            <a:r>
              <a:rPr lang="en-US" dirty="0" err="1"/>
              <a:t>Cap</a:t>
            </a:r>
            <a:r>
              <a:rPr lang="en-US" baseline="-25000" dirty="0" err="1"/>
              <a:t>RF</a:t>
            </a:r>
            <a:r>
              <a:rPr lang="en-US" dirty="0"/>
              <a:t>, </a:t>
            </a:r>
            <a:r>
              <a:rPr lang="en-US" dirty="0" err="1"/>
              <a:t>Cap</a:t>
            </a:r>
            <a:r>
              <a:rPr lang="en-US" baseline="-25000" dirty="0" err="1"/>
              <a:t>LF</a:t>
            </a:r>
            <a:r>
              <a:rPr lang="en-US" dirty="0"/>
              <a:t>, </a:t>
            </a:r>
            <a:r>
              <a:rPr lang="en-US" dirty="0" err="1"/>
              <a:t>Cap</a:t>
            </a:r>
            <a:r>
              <a:rPr lang="en-US" baseline="-25000" dirty="0" err="1"/>
              <a:t>RB</a:t>
            </a:r>
            <a:r>
              <a:rPr lang="en-US" dirty="0"/>
              <a:t>, </a:t>
            </a:r>
            <a:r>
              <a:rPr lang="en-US" dirty="0" err="1"/>
              <a:t>Cap</a:t>
            </a:r>
            <a:r>
              <a:rPr lang="en-US" baseline="-25000" dirty="0" err="1"/>
              <a:t>LB</a:t>
            </a:r>
            <a:r>
              <a:rPr lang="en-US" dirty="0"/>
              <a:t>, Inspect}</a:t>
            </a:r>
          </a:p>
          <a:p>
            <a:r>
              <a:rPr lang="en-US" dirty="0"/>
              <a:t>Constraints</a:t>
            </a:r>
          </a:p>
          <a:p>
            <a:pPr lvl="1"/>
            <a:r>
              <a:rPr lang="en-US" dirty="0"/>
              <a:t>Axle before wheel &amp; 10 min for axle</a:t>
            </a:r>
          </a:p>
          <a:p>
            <a:pPr lvl="2"/>
            <a:r>
              <a:rPr lang="en-US" dirty="0" err="1"/>
              <a:t>Axle</a:t>
            </a:r>
            <a:r>
              <a:rPr lang="en-US" baseline="-25000" dirty="0" err="1"/>
              <a:t>F</a:t>
            </a:r>
            <a:r>
              <a:rPr lang="en-US" dirty="0"/>
              <a:t> + 10 ≤ </a:t>
            </a:r>
            <a:r>
              <a:rPr lang="en-US" dirty="0" err="1"/>
              <a:t>Wheel</a:t>
            </a:r>
            <a:r>
              <a:rPr lang="en-US" baseline="-25000" dirty="0" err="1"/>
              <a:t>RF</a:t>
            </a:r>
            <a:br>
              <a:rPr lang="en-US" dirty="0"/>
            </a:br>
            <a:r>
              <a:rPr lang="en-US" dirty="0" err="1"/>
              <a:t>Axle</a:t>
            </a:r>
            <a:r>
              <a:rPr lang="en-US" baseline="-25000" dirty="0" err="1"/>
              <a:t>F</a:t>
            </a:r>
            <a:r>
              <a:rPr lang="en-US" dirty="0"/>
              <a:t> + 10 ≤ </a:t>
            </a:r>
            <a:r>
              <a:rPr lang="en-US" dirty="0" err="1"/>
              <a:t>Wheel</a:t>
            </a:r>
            <a:r>
              <a:rPr lang="en-US" baseline="-25000" dirty="0" err="1"/>
              <a:t>LF</a:t>
            </a:r>
            <a:br>
              <a:rPr lang="en-US" dirty="0"/>
            </a:br>
            <a:r>
              <a:rPr lang="en-US" dirty="0" err="1"/>
              <a:t>Axle</a:t>
            </a:r>
            <a:r>
              <a:rPr lang="en-US" baseline="-25000" dirty="0" err="1"/>
              <a:t>B</a:t>
            </a:r>
            <a:r>
              <a:rPr lang="en-US" dirty="0"/>
              <a:t> + 10 ≤ </a:t>
            </a:r>
            <a:r>
              <a:rPr lang="en-US" dirty="0" err="1"/>
              <a:t>Wheel</a:t>
            </a:r>
            <a:r>
              <a:rPr lang="en-US" baseline="-25000" dirty="0" err="1"/>
              <a:t>RB</a:t>
            </a:r>
            <a:br>
              <a:rPr lang="en-US" dirty="0"/>
            </a:br>
            <a:r>
              <a:rPr lang="en-US" dirty="0" err="1"/>
              <a:t>Axle</a:t>
            </a:r>
            <a:r>
              <a:rPr lang="en-US" baseline="-25000" dirty="0" err="1"/>
              <a:t>B</a:t>
            </a:r>
            <a:r>
              <a:rPr lang="en-US" dirty="0"/>
              <a:t> +10 ≤ </a:t>
            </a:r>
            <a:r>
              <a:rPr lang="en-US" dirty="0" err="1"/>
              <a:t>Wheel</a:t>
            </a:r>
            <a:r>
              <a:rPr lang="en-US" baseline="-25000" dirty="0" err="1"/>
              <a:t>LB</a:t>
            </a:r>
            <a:endParaRPr lang="en-US" baseline="-25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B7051A-3A3C-49BD-831F-2E4ADFA7FC7B}"/>
              </a:ext>
            </a:extLst>
          </p:cNvPr>
          <p:cNvSpPr txBox="1">
            <a:spLocks/>
          </p:cNvSpPr>
          <p:nvPr/>
        </p:nvSpPr>
        <p:spPr>
          <a:xfrm>
            <a:off x="6209730" y="1065848"/>
            <a:ext cx="5677470" cy="5663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Wheel (1 min) -&gt; tighten nut (2 min) -&gt; attach cap (1 min)</a:t>
            </a:r>
          </a:p>
          <a:p>
            <a:pPr lvl="2"/>
            <a:r>
              <a:rPr lang="en-US" dirty="0" err="1"/>
              <a:t>Wheel</a:t>
            </a:r>
            <a:r>
              <a:rPr lang="en-US" baseline="-25000" dirty="0" err="1"/>
              <a:t>XX</a:t>
            </a:r>
            <a:r>
              <a:rPr lang="en-US" dirty="0"/>
              <a:t> + 1 ≤ </a:t>
            </a:r>
            <a:r>
              <a:rPr lang="en-US" dirty="0" err="1"/>
              <a:t>Nuts</a:t>
            </a:r>
            <a:r>
              <a:rPr lang="en-US" baseline="-25000" dirty="0" err="1"/>
              <a:t>XX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Nuts</a:t>
            </a:r>
            <a:r>
              <a:rPr lang="en-US" baseline="-25000" dirty="0" err="1"/>
              <a:t>XX</a:t>
            </a:r>
            <a:r>
              <a:rPr lang="en-US" dirty="0"/>
              <a:t> + 2 ≤ </a:t>
            </a:r>
            <a:r>
              <a:rPr lang="en-US" dirty="0" err="1"/>
              <a:t>Cap</a:t>
            </a:r>
            <a:r>
              <a:rPr lang="en-US" baseline="-25000" dirty="0" err="1"/>
              <a:t>XX</a:t>
            </a:r>
            <a:r>
              <a:rPr lang="en-US"/>
              <a:t>  </a:t>
            </a:r>
            <a:endParaRPr lang="en-US" dirty="0"/>
          </a:p>
          <a:p>
            <a:pPr lvl="1"/>
            <a:r>
              <a:rPr lang="en-US" dirty="0"/>
              <a:t>Four workers share a tool for axle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Axle</a:t>
            </a:r>
            <a:r>
              <a:rPr lang="en-US" baseline="-25000" dirty="0" err="1"/>
              <a:t>F</a:t>
            </a:r>
            <a:r>
              <a:rPr lang="en-US" dirty="0"/>
              <a:t> + 10 ≤ </a:t>
            </a:r>
            <a:r>
              <a:rPr lang="en-US" dirty="0" err="1"/>
              <a:t>Axle</a:t>
            </a:r>
            <a:r>
              <a:rPr lang="en-US" baseline="-25000" dirty="0" err="1"/>
              <a:t>B</a:t>
            </a:r>
            <a:r>
              <a:rPr lang="en-US" dirty="0"/>
              <a:t>) </a:t>
            </a:r>
            <a:r>
              <a:rPr lang="en-US" b="1" dirty="0"/>
              <a:t>or </a:t>
            </a:r>
            <a:r>
              <a:rPr lang="en-US" dirty="0"/>
              <a:t>(</a:t>
            </a:r>
            <a:r>
              <a:rPr lang="en-US" dirty="0" err="1"/>
              <a:t>Axle</a:t>
            </a:r>
            <a:r>
              <a:rPr lang="en-US" baseline="-25000" dirty="0" err="1"/>
              <a:t>B</a:t>
            </a:r>
            <a:r>
              <a:rPr lang="en-US" dirty="0"/>
              <a:t> + 10 ≤ </a:t>
            </a:r>
            <a:r>
              <a:rPr lang="en-US" dirty="0" err="1"/>
              <a:t>Axle</a:t>
            </a:r>
            <a:r>
              <a:rPr lang="en-US" baseline="-25000" dirty="0" err="1"/>
              <a:t>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Inspect comes last and takes 3 min</a:t>
            </a:r>
          </a:p>
          <a:p>
            <a:pPr lvl="2"/>
            <a:r>
              <a:rPr lang="en-US" dirty="0"/>
              <a:t>X +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/>
              <a:t> &lt;= Inspect</a:t>
            </a:r>
          </a:p>
          <a:p>
            <a:pPr lvl="1"/>
            <a:r>
              <a:rPr lang="en-US" dirty="0"/>
              <a:t>Whole assembly finish in 30 min</a:t>
            </a:r>
          </a:p>
          <a:p>
            <a:pPr lvl="2"/>
            <a:r>
              <a:rPr lang="en-US" dirty="0"/>
              <a:t>D</a:t>
            </a:r>
            <a:r>
              <a:rPr lang="en-US" baseline="-25000" dirty="0"/>
              <a:t>i</a:t>
            </a:r>
            <a:r>
              <a:rPr lang="en-US" dirty="0"/>
              <a:t> = {1, 2, 3, . . . , 27}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6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CSP Formalism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548" y="1065848"/>
            <a:ext cx="10138904" cy="5654992"/>
          </a:xfrm>
        </p:spPr>
        <p:txBody>
          <a:bodyPr>
            <a:noAutofit/>
          </a:bodyPr>
          <a:lstStyle/>
          <a:p>
            <a:r>
              <a:rPr lang="en-US" dirty="0"/>
              <a:t>Finite vs Infinite</a:t>
            </a:r>
          </a:p>
          <a:p>
            <a:pPr lvl="1"/>
            <a:r>
              <a:rPr lang="en-US" dirty="0"/>
              <a:t>Finite – map coloring, scheduling &amp; Infinite – scheduling with no deadline</a:t>
            </a:r>
          </a:p>
          <a:p>
            <a:r>
              <a:rPr lang="en-US" dirty="0"/>
              <a:t>Discrete vs Continuous</a:t>
            </a:r>
          </a:p>
          <a:p>
            <a:pPr lvl="1"/>
            <a:r>
              <a:rPr lang="en-US" dirty="0"/>
              <a:t>Discrete – map coloring, scheduling &amp; Continuous – telescope experiment scheduling with precise continuous-valued timing of observations</a:t>
            </a:r>
          </a:p>
          <a:p>
            <a:r>
              <a:rPr lang="en-US" dirty="0"/>
              <a:t>Constraint types</a:t>
            </a:r>
          </a:p>
          <a:p>
            <a:pPr lvl="1"/>
            <a:r>
              <a:rPr lang="en-US" dirty="0"/>
              <a:t>Unary – restricts the value of a single variable</a:t>
            </a:r>
          </a:p>
          <a:p>
            <a:pPr lvl="2"/>
            <a:r>
              <a:rPr lang="en-US" dirty="0"/>
              <a:t>SA ≠ green</a:t>
            </a:r>
          </a:p>
          <a:p>
            <a:pPr lvl="1"/>
            <a:r>
              <a:rPr lang="en-US" dirty="0"/>
              <a:t>Binary – relates two variables in the constraint</a:t>
            </a:r>
          </a:p>
          <a:p>
            <a:pPr lvl="2"/>
            <a:r>
              <a:rPr lang="en-US" dirty="0"/>
              <a:t>SA ≠ WA</a:t>
            </a:r>
          </a:p>
          <a:p>
            <a:pPr lvl="1"/>
            <a:r>
              <a:rPr lang="en-US" dirty="0"/>
              <a:t>Higher order – ternary constraints</a:t>
            </a:r>
          </a:p>
          <a:p>
            <a:pPr lvl="1"/>
            <a:r>
              <a:rPr lang="en-US" dirty="0"/>
              <a:t>Global constraint – arbitrary number of variables</a:t>
            </a:r>
          </a:p>
          <a:p>
            <a:pPr lvl="2"/>
            <a:r>
              <a:rPr lang="en-US" i="1" dirty="0" err="1"/>
              <a:t>Alldiff</a:t>
            </a:r>
            <a:r>
              <a:rPr lang="en-US" dirty="0"/>
              <a:t> – all the variables involved must have different values</a:t>
            </a:r>
          </a:p>
          <a:p>
            <a:pPr lvl="1"/>
            <a:r>
              <a:rPr lang="en-US" dirty="0"/>
              <a:t>Absolute vs Preference constraints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7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Crypt-arithmetic Problem</a:t>
            </a:r>
          </a:p>
        </p:txBody>
      </p:sp>
      <p:pic>
        <p:nvPicPr>
          <p:cNvPr id="3" name="Picture 2" descr="Cryptarithmetic problem example">
            <a:extLst>
              <a:ext uri="{FF2B5EF4-FFF2-40B4-BE49-F238E27FC236}">
                <a16:creationId xmlns:a16="http://schemas.microsoft.com/office/drawing/2014/main" id="{4DE08865-607F-4856-B040-B4094653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44" y="923199"/>
            <a:ext cx="9493511" cy="57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Propagation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848"/>
            <a:ext cx="10515600" cy="5228534"/>
          </a:xfrm>
        </p:spPr>
        <p:txBody>
          <a:bodyPr>
            <a:noAutofit/>
          </a:bodyPr>
          <a:lstStyle/>
          <a:p>
            <a:r>
              <a:rPr lang="en-US" dirty="0"/>
              <a:t>In regular state-space search, an algorithm only does 1 thing – search</a:t>
            </a:r>
          </a:p>
          <a:p>
            <a:r>
              <a:rPr lang="en-US" dirty="0"/>
              <a:t>In CSP, an algorithm can do 2 things –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Constraint propagation – using constraints to reduce the number of legal values for a variable, which in turn reduces the legal values for another</a:t>
            </a:r>
          </a:p>
          <a:p>
            <a:pPr lvl="1"/>
            <a:r>
              <a:rPr lang="en-US" dirty="0"/>
              <a:t>Constraint propagation can be done with search or before as pre-processing</a:t>
            </a:r>
          </a:p>
          <a:p>
            <a:r>
              <a:rPr lang="en-US" dirty="0"/>
              <a:t>Constraint satisfaction as pre-processing sometimes solves the entire problem, no search required at all</a:t>
            </a:r>
          </a:p>
          <a:p>
            <a:r>
              <a:rPr lang="en-US" dirty="0"/>
              <a:t>Key idea – local consistency</a:t>
            </a:r>
          </a:p>
          <a:p>
            <a:pPr lvl="1"/>
            <a:r>
              <a:rPr lang="en-US" dirty="0"/>
              <a:t>Each variable is a node in the graph</a:t>
            </a:r>
          </a:p>
          <a:p>
            <a:pPr lvl="1"/>
            <a:r>
              <a:rPr lang="en-US" dirty="0"/>
              <a:t>Each binary constraint is an arc in the graph</a:t>
            </a:r>
          </a:p>
          <a:p>
            <a:pPr lvl="1"/>
            <a:r>
              <a:rPr lang="en-US" dirty="0"/>
              <a:t>Enforce local consistency in each part of graph propagated throughout graph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5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Propagation – Node Consistency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064" y="1370265"/>
            <a:ext cx="9697872" cy="4895781"/>
          </a:xfrm>
        </p:spPr>
        <p:txBody>
          <a:bodyPr>
            <a:noAutofit/>
          </a:bodyPr>
          <a:lstStyle/>
          <a:p>
            <a:r>
              <a:rPr lang="en-US" dirty="0"/>
              <a:t>A single variable is node consistent if all values in the variable’s domain satisfy unary constraints</a:t>
            </a:r>
          </a:p>
          <a:p>
            <a:r>
              <a:rPr lang="en-US" dirty="0"/>
              <a:t>A network is node consistent if every variable in the network is node consistent</a:t>
            </a:r>
          </a:p>
          <a:p>
            <a:r>
              <a:rPr lang="en-US" dirty="0"/>
              <a:t>E.g. map coloring where South Australians dislike green</a:t>
            </a:r>
          </a:p>
          <a:p>
            <a:pPr lvl="1"/>
            <a:r>
              <a:rPr lang="en-US" dirty="0"/>
              <a:t>SA starts with domain {red, green, blue}</a:t>
            </a:r>
          </a:p>
          <a:p>
            <a:pPr lvl="1"/>
            <a:r>
              <a:rPr lang="en-US" dirty="0"/>
              <a:t>Make node consistent by eliminating green – new domain {red, blue}</a:t>
            </a:r>
          </a:p>
          <a:p>
            <a:r>
              <a:rPr lang="en-US" dirty="0"/>
              <a:t>Easily satisfy all unary constraints in a CSP by running node consistency</a:t>
            </a:r>
          </a:p>
          <a:p>
            <a:r>
              <a:rPr lang="en-US" dirty="0"/>
              <a:t>Possible to reduce all n-</a:t>
            </a:r>
            <a:r>
              <a:rPr lang="en-US" dirty="0" err="1"/>
              <a:t>ary</a:t>
            </a:r>
            <a:r>
              <a:rPr lang="en-US" dirty="0"/>
              <a:t> constraints to binary constraints</a:t>
            </a:r>
          </a:p>
          <a:p>
            <a:pPr lvl="1"/>
            <a:r>
              <a:rPr lang="en-US" dirty="0"/>
              <a:t>Hence, CSP solvers are defined to work only with binary constraints</a:t>
            </a:r>
          </a:p>
        </p:txBody>
      </p:sp>
    </p:spTree>
    <p:extLst>
      <p:ext uri="{BB962C8B-B14F-4D97-AF65-F5344CB8AC3E}">
        <p14:creationId xmlns:p14="http://schemas.microsoft.com/office/powerpoint/2010/main" val="40970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Propagation – Arc Consistency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49" y="1532622"/>
            <a:ext cx="9971789" cy="4714174"/>
          </a:xfrm>
        </p:spPr>
        <p:txBody>
          <a:bodyPr>
            <a:noAutofit/>
          </a:bodyPr>
          <a:lstStyle/>
          <a:p>
            <a:r>
              <a:rPr lang="en-US" dirty="0"/>
              <a:t>A variable is arc consistent if every value in its domain satisfies the variable’s binary constraints</a:t>
            </a:r>
          </a:p>
          <a:p>
            <a:r>
              <a:rPr lang="en-US" dirty="0"/>
              <a:t>A network is arc consistent if every variable is arc consistent with every other variable</a:t>
            </a:r>
          </a:p>
          <a:p>
            <a:r>
              <a:rPr lang="en-US" dirty="0"/>
              <a:t>E.g., consider the constraint Y = X</a:t>
            </a:r>
            <a:r>
              <a:rPr lang="en-US" baseline="30000" dirty="0"/>
              <a:t>2</a:t>
            </a:r>
            <a:r>
              <a:rPr lang="en-US" dirty="0"/>
              <a:t>, domain of X &amp; Y is set of digits</a:t>
            </a:r>
          </a:p>
          <a:p>
            <a:r>
              <a:rPr lang="es-ES" dirty="0"/>
              <a:t>Constraint – &lt;(X, Y ), {(0, 0), (1, 1), (2, 4), (3, 9)}&gt;</a:t>
            </a:r>
            <a:endParaRPr lang="en-US" dirty="0"/>
          </a:p>
          <a:p>
            <a:r>
              <a:rPr lang="en-US" dirty="0"/>
              <a:t>To make X arc-consistent </a:t>
            </a:r>
            <a:r>
              <a:rPr lang="en-US" dirty="0" err="1"/>
              <a:t>wrt</a:t>
            </a:r>
            <a:r>
              <a:rPr lang="en-US" dirty="0"/>
              <a:t> Y</a:t>
            </a:r>
          </a:p>
          <a:p>
            <a:pPr lvl="1"/>
            <a:r>
              <a:rPr lang="en-US" dirty="0"/>
              <a:t>Reduce domain for X to {0, 1, 2, 3}</a:t>
            </a:r>
          </a:p>
          <a:p>
            <a:r>
              <a:rPr lang="en-US" dirty="0"/>
              <a:t>To make Y arc-consistent </a:t>
            </a:r>
            <a:r>
              <a:rPr lang="en-US" dirty="0" err="1"/>
              <a:t>wrt</a:t>
            </a:r>
            <a:r>
              <a:rPr lang="en-US" dirty="0"/>
              <a:t> X</a:t>
            </a:r>
          </a:p>
          <a:p>
            <a:pPr lvl="1"/>
            <a:r>
              <a:rPr lang="en-US" dirty="0"/>
              <a:t>Reduce domain for Y to {0, 1, 4, 9}</a:t>
            </a:r>
          </a:p>
        </p:txBody>
      </p:sp>
    </p:spTree>
    <p:extLst>
      <p:ext uri="{BB962C8B-B14F-4D97-AF65-F5344CB8AC3E}">
        <p14:creationId xmlns:p14="http://schemas.microsoft.com/office/powerpoint/2010/main" val="6917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Propagation – Arc Consistency</a:t>
            </a:r>
          </a:p>
        </p:txBody>
      </p:sp>
      <p:pic>
        <p:nvPicPr>
          <p:cNvPr id="3" name="Picture 2" descr="Arc Consistency AC-3 algorithm used for constraint propagation">
            <a:extLst>
              <a:ext uri="{FF2B5EF4-FFF2-40B4-BE49-F238E27FC236}">
                <a16:creationId xmlns:a16="http://schemas.microsoft.com/office/drawing/2014/main" id="{9DDD80D6-490F-4BAE-B924-752347B19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6" y="930295"/>
            <a:ext cx="7696556" cy="579054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3723" y="1027750"/>
            <a:ext cx="4081112" cy="5595633"/>
          </a:xfrm>
        </p:spPr>
        <p:txBody>
          <a:bodyPr>
            <a:noAutofit/>
          </a:bodyPr>
          <a:lstStyle/>
          <a:p>
            <a:r>
              <a:rPr lang="en-US" sz="2000" dirty="0"/>
              <a:t>Queue contains all arcs in the CSP</a:t>
            </a:r>
          </a:p>
          <a:p>
            <a:r>
              <a:rPr lang="en-US" sz="2000" dirty="0"/>
              <a:t>Pops arc (X</a:t>
            </a:r>
            <a:r>
              <a:rPr lang="en-US" sz="2000" baseline="-25000" dirty="0"/>
              <a:t>i</a:t>
            </a:r>
            <a:r>
              <a:rPr lang="en-US" sz="2000" dirty="0"/>
              <a:t>, </a:t>
            </a:r>
            <a:r>
              <a:rPr lang="en-US" sz="2000" dirty="0" err="1"/>
              <a:t>X</a:t>
            </a:r>
            <a:r>
              <a:rPr lang="en-US" sz="2000" baseline="-25000" dirty="0" err="1"/>
              <a:t>j</a:t>
            </a:r>
            <a:r>
              <a:rPr lang="en-US" sz="2000" dirty="0"/>
              <a:t>)</a:t>
            </a:r>
          </a:p>
          <a:p>
            <a:pPr lvl="1"/>
            <a:r>
              <a:rPr lang="en-US" sz="1600" dirty="0"/>
              <a:t>Make X</a:t>
            </a:r>
            <a:r>
              <a:rPr lang="en-US" sz="1600" baseline="-25000" dirty="0"/>
              <a:t>i</a:t>
            </a:r>
            <a:r>
              <a:rPr lang="en-US" sz="1600" dirty="0"/>
              <a:t> arc-consistent w.r.t. </a:t>
            </a:r>
            <a:r>
              <a:rPr lang="en-US" sz="1600" dirty="0" err="1"/>
              <a:t>X</a:t>
            </a:r>
            <a:r>
              <a:rPr lang="en-US" sz="1600" baseline="-25000" dirty="0" err="1"/>
              <a:t>j</a:t>
            </a:r>
            <a:endParaRPr lang="en-US" dirty="0"/>
          </a:p>
          <a:p>
            <a:r>
              <a:rPr lang="en-US" sz="2000" dirty="0"/>
              <a:t>If D</a:t>
            </a:r>
            <a:r>
              <a:rPr lang="en-US" sz="2000" baseline="-25000" dirty="0"/>
              <a:t>i</a:t>
            </a:r>
            <a:r>
              <a:rPr lang="en-US" sz="2000" dirty="0"/>
              <a:t> is revised (domain smaller)</a:t>
            </a:r>
          </a:p>
          <a:p>
            <a:pPr lvl="1"/>
            <a:r>
              <a:rPr lang="en-US" sz="1600" dirty="0"/>
              <a:t>Add to the queue all arcs (</a:t>
            </a:r>
            <a:r>
              <a:rPr lang="en-US" sz="1600" dirty="0" err="1"/>
              <a:t>X</a:t>
            </a:r>
            <a:r>
              <a:rPr lang="en-US" sz="1600" baseline="-25000" dirty="0" err="1"/>
              <a:t>k</a:t>
            </a:r>
            <a:r>
              <a:rPr lang="en-US" sz="1600" dirty="0"/>
              <a:t>, X</a:t>
            </a:r>
            <a:r>
              <a:rPr lang="en-US" sz="1600" baseline="-25000" dirty="0"/>
              <a:t>i</a:t>
            </a:r>
            <a:r>
              <a:rPr lang="en-US" sz="1600" dirty="0"/>
              <a:t>) where </a:t>
            </a:r>
            <a:r>
              <a:rPr lang="en-US" sz="1600" dirty="0" err="1"/>
              <a:t>X</a:t>
            </a:r>
            <a:r>
              <a:rPr lang="en-US" sz="1600" baseline="-25000" dirty="0" err="1"/>
              <a:t>k</a:t>
            </a:r>
            <a:r>
              <a:rPr lang="en-US" sz="1600" dirty="0"/>
              <a:t> is a neighbor of X</a:t>
            </a:r>
            <a:r>
              <a:rPr lang="en-US" sz="1600" baseline="-25000" dirty="0"/>
              <a:t>i</a:t>
            </a:r>
          </a:p>
          <a:p>
            <a:r>
              <a:rPr lang="en-US" sz="2000" dirty="0"/>
              <a:t>If D</a:t>
            </a:r>
            <a:r>
              <a:rPr lang="en-US" sz="2000" baseline="-25000" dirty="0"/>
              <a:t>i</a:t>
            </a:r>
            <a:r>
              <a:rPr lang="en-US" sz="2000" dirty="0"/>
              <a:t> is revised to nothing</a:t>
            </a:r>
          </a:p>
          <a:p>
            <a:pPr lvl="1"/>
            <a:r>
              <a:rPr lang="en-US" sz="1600" dirty="0"/>
              <a:t>CSP has no consistent solution</a:t>
            </a:r>
          </a:p>
          <a:p>
            <a:pPr lvl="1"/>
            <a:r>
              <a:rPr lang="en-US" sz="1600" dirty="0"/>
              <a:t>Return failure</a:t>
            </a:r>
          </a:p>
          <a:p>
            <a:r>
              <a:rPr lang="en-US" sz="2000" dirty="0"/>
              <a:t>Do this until no more arcs in queue</a:t>
            </a:r>
          </a:p>
          <a:p>
            <a:r>
              <a:rPr lang="en-US" sz="2000" dirty="0"/>
              <a:t>The new CSP after this algorithm is equivalent to the original CSP – both have same solutions</a:t>
            </a:r>
          </a:p>
          <a:p>
            <a:r>
              <a:rPr lang="en-US" sz="2000" dirty="0"/>
              <a:t>Arc-consistent CSP variables have smaller domains</a:t>
            </a:r>
          </a:p>
          <a:p>
            <a:r>
              <a:rPr lang="en-US" sz="2000" dirty="0"/>
              <a:t>Arc-consistent CSP faster to search than normal CSP</a:t>
            </a:r>
          </a:p>
        </p:txBody>
      </p:sp>
    </p:spTree>
    <p:extLst>
      <p:ext uri="{BB962C8B-B14F-4D97-AF65-F5344CB8AC3E}">
        <p14:creationId xmlns:p14="http://schemas.microsoft.com/office/powerpoint/2010/main" val="372818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Constraint Propagation – Path Consistency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318B56-E9D4-5541-AA7A-7479F258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73" y="1417118"/>
            <a:ext cx="10817054" cy="4800801"/>
          </a:xfrm>
        </p:spPr>
        <p:txBody>
          <a:bodyPr>
            <a:noAutofit/>
          </a:bodyPr>
          <a:lstStyle/>
          <a:p>
            <a:r>
              <a:rPr lang="en-US" dirty="0"/>
              <a:t>Path consistency tightens binary constraints by using implicit constraints that are inferred by looking at triples of variables</a:t>
            </a:r>
          </a:p>
          <a:p>
            <a:r>
              <a:rPr lang="en-US" dirty="0"/>
              <a:t>A two-variable set {X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} is path consistent w.r.t. a third variable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For every assignment {X</a:t>
            </a:r>
            <a:r>
              <a:rPr lang="en-US" baseline="-25000" dirty="0"/>
              <a:t>i </a:t>
            </a:r>
            <a:r>
              <a:rPr lang="en-US" dirty="0"/>
              <a:t>= a,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= b} consistent with the constraints on {X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There is an assignment to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 that satisfies the constraints on {X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} and {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}</a:t>
            </a:r>
          </a:p>
          <a:p>
            <a:r>
              <a:rPr lang="en-US" dirty="0"/>
              <a:t>Look for a path from X</a:t>
            </a:r>
            <a:r>
              <a:rPr lang="en-US" baseline="-25000" dirty="0"/>
              <a:t>i</a:t>
            </a:r>
            <a:r>
              <a:rPr lang="en-US" dirty="0"/>
              <a:t> to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 with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 in the middle</a:t>
            </a:r>
          </a:p>
          <a:p>
            <a:r>
              <a:rPr lang="en-US" b="1" dirty="0"/>
              <a:t>K-consistency</a:t>
            </a:r>
            <a:r>
              <a:rPr lang="en-US" dirty="0"/>
              <a:t> – if for any set of </a:t>
            </a:r>
            <a:r>
              <a:rPr lang="en-US" i="1" dirty="0"/>
              <a:t>k-1</a:t>
            </a:r>
            <a:r>
              <a:rPr lang="en-US" dirty="0"/>
              <a:t> variables and for any consistent assignment to those variables, a consistent value can always be assigned to any kth variable</a:t>
            </a:r>
          </a:p>
          <a:p>
            <a:pPr lvl="1"/>
            <a:r>
              <a:rPr lang="en-US" dirty="0"/>
              <a:t>1-consistency, 2-consistency, 3-consistency (for binary constraints)</a:t>
            </a:r>
          </a:p>
          <a:p>
            <a:pPr lvl="1"/>
            <a:r>
              <a:rPr lang="en-US" dirty="0"/>
              <a:t>Node, arc, path correspondingly</a:t>
            </a:r>
          </a:p>
        </p:txBody>
      </p:sp>
    </p:spTree>
    <p:extLst>
      <p:ext uri="{BB962C8B-B14F-4D97-AF65-F5344CB8AC3E}">
        <p14:creationId xmlns:p14="http://schemas.microsoft.com/office/powerpoint/2010/main" val="47628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Sudoku Example – Arc Consistency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06082"/>
              </p:ext>
            </p:extLst>
          </p:nvPr>
        </p:nvGraphicFramePr>
        <p:xfrm>
          <a:off x="90428" y="889005"/>
          <a:ext cx="5828050" cy="523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8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2304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042" y="1397640"/>
            <a:ext cx="5285433" cy="4716294"/>
          </a:xfrm>
        </p:spPr>
        <p:txBody>
          <a:bodyPr>
            <a:noAutofit/>
          </a:bodyPr>
          <a:lstStyle/>
          <a:p>
            <a:r>
              <a:rPr lang="en-US" sz="2000" dirty="0"/>
              <a:t>Domain for filled square – single value</a:t>
            </a:r>
          </a:p>
          <a:p>
            <a:r>
              <a:rPr lang="en-US" sz="2000" dirty="0"/>
              <a:t>Domain for empty squares – {1,2,3,4,5,6,7,8,9}</a:t>
            </a:r>
          </a:p>
          <a:p>
            <a:r>
              <a:rPr lang="en-US" sz="2000" dirty="0"/>
              <a:t>Constraints</a:t>
            </a:r>
          </a:p>
          <a:p>
            <a:pPr lvl="1"/>
            <a:r>
              <a:rPr lang="en-US" sz="1600" dirty="0"/>
              <a:t>27 </a:t>
            </a:r>
            <a:r>
              <a:rPr lang="en-US" sz="1600" dirty="0" err="1"/>
              <a:t>Alldiff</a:t>
            </a:r>
            <a:r>
              <a:rPr lang="en-US" sz="1600" dirty="0"/>
              <a:t> – 1 for each row, column and box</a:t>
            </a:r>
          </a:p>
          <a:p>
            <a:r>
              <a:rPr lang="en-US" sz="2000" dirty="0"/>
              <a:t>Consider square E6</a:t>
            </a:r>
          </a:p>
          <a:p>
            <a:pPr lvl="1"/>
            <a:r>
              <a:rPr lang="en-US" sz="1600" dirty="0"/>
              <a:t>Original domain – {1,2,3,4,5,6,7,8,9}</a:t>
            </a:r>
          </a:p>
          <a:p>
            <a:pPr lvl="1"/>
            <a:r>
              <a:rPr lang="en-US" sz="1600" dirty="0"/>
              <a:t>After arc-consistency – {4}</a:t>
            </a:r>
          </a:p>
          <a:p>
            <a:r>
              <a:rPr lang="en-US" sz="2000" dirty="0"/>
              <a:t>Consider square I6</a:t>
            </a:r>
          </a:p>
          <a:p>
            <a:pPr lvl="1"/>
            <a:r>
              <a:rPr lang="en-US" sz="1600" dirty="0"/>
              <a:t>Original domain – {1,2,3,4,5,6,7,8,9}</a:t>
            </a:r>
          </a:p>
          <a:p>
            <a:pPr lvl="1"/>
            <a:r>
              <a:rPr lang="en-US" sz="1600" dirty="0"/>
              <a:t>After arc-consistency – {7}</a:t>
            </a:r>
          </a:p>
          <a:p>
            <a:r>
              <a:rPr lang="en-US" sz="2000" dirty="0"/>
              <a:t>Consider square A6</a:t>
            </a:r>
          </a:p>
          <a:p>
            <a:pPr lvl="1"/>
            <a:r>
              <a:rPr lang="en-US" sz="1600" dirty="0"/>
              <a:t>Original domain – {1,2,3,4,5,6,7,8,9}</a:t>
            </a:r>
          </a:p>
          <a:p>
            <a:pPr lvl="1"/>
            <a:r>
              <a:rPr lang="en-US" sz="1600" dirty="0"/>
              <a:t>After arc-consistency – {1}</a:t>
            </a:r>
          </a:p>
          <a:p>
            <a:r>
              <a:rPr lang="en-US" sz="2000" dirty="0"/>
              <a:t>Arc-consistency can solve the entire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097" y="343262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2097" y="552536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97" y="136824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234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Backtracking Search for CSP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249" y="1196673"/>
            <a:ext cx="10737501" cy="5224224"/>
          </a:xfrm>
        </p:spPr>
        <p:txBody>
          <a:bodyPr>
            <a:noAutofit/>
          </a:bodyPr>
          <a:lstStyle/>
          <a:p>
            <a:r>
              <a:rPr lang="en-US" dirty="0"/>
              <a:t>Standard </a:t>
            </a:r>
            <a:r>
              <a:rPr lang="en-US"/>
              <a:t>depth first/limited </a:t>
            </a:r>
            <a:r>
              <a:rPr lang="en-US" dirty="0"/>
              <a:t>search with ‘n’ variables of domain size ‘d’</a:t>
            </a:r>
          </a:p>
          <a:p>
            <a:pPr lvl="1"/>
            <a:r>
              <a:rPr lang="en-US" dirty="0"/>
              <a:t>Depth 0 – any of the ‘d’ values can be assigned to any of ‘n’ variables – </a:t>
            </a:r>
            <a:r>
              <a:rPr lang="en-US" b="1" dirty="0" err="1"/>
              <a:t>nd</a:t>
            </a:r>
            <a:endParaRPr lang="en-US" b="1" dirty="0"/>
          </a:p>
          <a:p>
            <a:pPr lvl="1"/>
            <a:r>
              <a:rPr lang="en-US" dirty="0"/>
              <a:t>Depth 1 – any of the ‘d’ values can be assigned to any of ‘n-1’ variables – </a:t>
            </a:r>
            <a:r>
              <a:rPr lang="en-US" b="1" dirty="0"/>
              <a:t>(n-1)d</a:t>
            </a:r>
          </a:p>
          <a:p>
            <a:pPr lvl="1"/>
            <a:r>
              <a:rPr lang="en-US" dirty="0"/>
              <a:t>Tree leaves – </a:t>
            </a:r>
            <a:r>
              <a:rPr lang="en-US" b="1" dirty="0" err="1"/>
              <a:t>n!d</a:t>
            </a:r>
            <a:r>
              <a:rPr lang="en-US" b="1" baseline="30000" dirty="0" err="1"/>
              <a:t>n</a:t>
            </a:r>
            <a:endParaRPr lang="en-US" b="1" baseline="30000" dirty="0"/>
          </a:p>
          <a:p>
            <a:pPr lvl="1"/>
            <a:r>
              <a:rPr lang="en-US" dirty="0"/>
              <a:t>Total possible assignments – </a:t>
            </a:r>
            <a:r>
              <a:rPr lang="en-US" b="1" dirty="0" err="1"/>
              <a:t>n!d</a:t>
            </a:r>
            <a:r>
              <a:rPr lang="en-US" b="1" baseline="30000" dirty="0" err="1"/>
              <a:t>n</a:t>
            </a:r>
            <a:endParaRPr lang="en-US" baseline="30000" dirty="0"/>
          </a:p>
          <a:p>
            <a:r>
              <a:rPr lang="en-US" dirty="0"/>
              <a:t>Commutativity</a:t>
            </a:r>
          </a:p>
          <a:p>
            <a:pPr lvl="1"/>
            <a:r>
              <a:rPr lang="en-US" dirty="0"/>
              <a:t>Order of application of any given set of actions has no effect on outcome</a:t>
            </a:r>
          </a:p>
          <a:p>
            <a:pPr lvl="1"/>
            <a:r>
              <a:rPr lang="en-US" dirty="0"/>
              <a:t>CSPs are commutative because when assigning values to variables, we reach the same partial assignment regardless of order</a:t>
            </a:r>
          </a:p>
          <a:p>
            <a:pPr lvl="1"/>
            <a:r>
              <a:rPr lang="en-US" dirty="0"/>
              <a:t>Hence, single variable at each node in search tree</a:t>
            </a:r>
          </a:p>
          <a:p>
            <a:pPr lvl="1"/>
            <a:r>
              <a:rPr lang="en-US" dirty="0"/>
              <a:t>E.g. at root node SA, we choose between SA = red, SA = green and SA = blue; but never choose between SA = red and WA = blue</a:t>
            </a:r>
          </a:p>
          <a:p>
            <a:pPr lvl="1"/>
            <a:r>
              <a:rPr lang="en-US" dirty="0"/>
              <a:t>Hence, total tree leaves in CSP = </a:t>
            </a:r>
            <a:r>
              <a:rPr lang="en-US" b="1" dirty="0" err="1"/>
              <a:t>d</a:t>
            </a:r>
            <a:r>
              <a:rPr lang="en-US" b="1" baseline="30000" dirty="0" err="1"/>
              <a:t>n</a:t>
            </a:r>
            <a:endParaRPr lang="en-US" b="1" baseline="30000" dirty="0"/>
          </a:p>
        </p:txBody>
      </p:sp>
    </p:spTree>
    <p:extLst>
      <p:ext uri="{BB962C8B-B14F-4D97-AF65-F5344CB8AC3E}">
        <p14:creationId xmlns:p14="http://schemas.microsoft.com/office/powerpoint/2010/main" val="42850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Backtracking Search for CSP</a:t>
            </a:r>
          </a:p>
        </p:txBody>
      </p:sp>
      <p:pic>
        <p:nvPicPr>
          <p:cNvPr id="5" name="Picture 4" descr="Backtracking search algorithm psuedo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37" y="1019175"/>
            <a:ext cx="89249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1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Backtracking Search for CSP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937" y="1358598"/>
            <a:ext cx="6464126" cy="4861227"/>
          </a:xfrm>
        </p:spPr>
        <p:txBody>
          <a:bodyPr>
            <a:noAutofit/>
          </a:bodyPr>
          <a:lstStyle/>
          <a:p>
            <a:r>
              <a:rPr lang="en-US" dirty="0"/>
              <a:t>Which variable should be assigned next (SELECT-UNASSIGNED-VARIABLE), and in what order should its values be tried (ORDER-DOMAIN-VALUES)?</a:t>
            </a:r>
          </a:p>
          <a:p>
            <a:endParaRPr lang="en-US" dirty="0"/>
          </a:p>
          <a:p>
            <a:r>
              <a:rPr lang="en-US" dirty="0"/>
              <a:t>What inferences should be performed at each step in the search (INFERENCE)?</a:t>
            </a:r>
          </a:p>
          <a:p>
            <a:endParaRPr lang="en-US" dirty="0"/>
          </a:p>
          <a:p>
            <a:r>
              <a:rPr lang="en-US" dirty="0"/>
              <a:t>When the search arrives at an assignment that violates a constraint, can the search avoid repeating this failure?</a:t>
            </a:r>
          </a:p>
        </p:txBody>
      </p:sp>
    </p:spTree>
    <p:extLst>
      <p:ext uri="{BB962C8B-B14F-4D97-AF65-F5344CB8AC3E}">
        <p14:creationId xmlns:p14="http://schemas.microsoft.com/office/powerpoint/2010/main" val="124506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Variable and Value Ordering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353" y="1127806"/>
            <a:ext cx="6383294" cy="45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← SELECT-UNASSIGNED-VARIABLE(</a:t>
            </a:r>
            <a:r>
              <a:rPr lang="en-US" dirty="0" err="1"/>
              <a:t>csp</a:t>
            </a:r>
            <a:r>
              <a:rPr lang="en-US" dirty="0"/>
              <a:t>)</a:t>
            </a:r>
          </a:p>
        </p:txBody>
      </p:sp>
      <p:pic>
        <p:nvPicPr>
          <p:cNvPr id="4" name="Picture 3" descr="sample expansion for the Australia territory map coloring problem showcasing variable and value ord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83" y="1838412"/>
            <a:ext cx="7734553" cy="3003014"/>
          </a:xfrm>
          <a:prstGeom prst="rect">
            <a:avLst/>
          </a:prstGeom>
        </p:spPr>
      </p:pic>
      <p:pic>
        <p:nvPicPr>
          <p:cNvPr id="6" name="Picture 5" descr="Australia territory map for the map coloring constraint satisfaction problem">
            <a:extLst>
              <a:ext uri="{FF2B5EF4-FFF2-40B4-BE49-F238E27FC236}">
                <a16:creationId xmlns:a16="http://schemas.microsoft.com/office/drawing/2014/main" id="{B4FC85F8-566A-4D41-8434-584FF4B4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38" y="1644393"/>
            <a:ext cx="3979638" cy="3391053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8839200" y="3981450"/>
            <a:ext cx="1581150" cy="723900"/>
          </a:xfrm>
          <a:prstGeom prst="wedgeEllipseCallout">
            <a:avLst>
              <a:gd name="adj1" fmla="val -111798"/>
              <a:gd name="adj2" fmla="val 460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order, then Q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316137" y="5097403"/>
            <a:ext cx="1731737" cy="836671"/>
          </a:xfrm>
          <a:prstGeom prst="wedgeEllipseCallout">
            <a:avLst>
              <a:gd name="adj1" fmla="val 58213"/>
              <a:gd name="adj2" fmla="val -21377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Better to go with SA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3068862" y="5291423"/>
            <a:ext cx="2036538" cy="1053510"/>
          </a:xfrm>
          <a:prstGeom prst="wedgeEllipseCallout">
            <a:avLst>
              <a:gd name="adj1" fmla="val -99559"/>
              <a:gd name="adj2" fmla="val -283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Minimum Remaining Values (MRV)</a:t>
            </a:r>
          </a:p>
        </p:txBody>
      </p:sp>
      <p:sp>
        <p:nvSpPr>
          <p:cNvPr id="14" name="Oval Callout 13"/>
          <p:cNvSpPr/>
          <p:nvPr/>
        </p:nvSpPr>
        <p:spPr>
          <a:xfrm>
            <a:off x="4752975" y="1799029"/>
            <a:ext cx="1581150" cy="723900"/>
          </a:xfrm>
          <a:prstGeom prst="wedgeEllipseCallout">
            <a:avLst>
              <a:gd name="adj1" fmla="val 20733"/>
              <a:gd name="adj2" fmla="val 13618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after this?</a:t>
            </a:r>
          </a:p>
        </p:txBody>
      </p:sp>
    </p:spTree>
    <p:extLst>
      <p:ext uri="{BB962C8B-B14F-4D97-AF65-F5344CB8AC3E}">
        <p14:creationId xmlns:p14="http://schemas.microsoft.com/office/powerpoint/2010/main" val="329084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Variable and Value Ordering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353" y="1127806"/>
            <a:ext cx="6383294" cy="45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← SELECT-UNASSIGNED-VARIABLE(</a:t>
            </a:r>
            <a:r>
              <a:rPr lang="en-US" dirty="0" err="1"/>
              <a:t>csp</a:t>
            </a:r>
            <a:r>
              <a:rPr lang="en-US" dirty="0"/>
              <a:t>)</a:t>
            </a:r>
          </a:p>
        </p:txBody>
      </p:sp>
      <p:pic>
        <p:nvPicPr>
          <p:cNvPr id="4" name="Picture 3" descr="sample expansion for the Australia territory map coloring problem showcasing variable and value ord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83" y="1838412"/>
            <a:ext cx="7734553" cy="3003014"/>
          </a:xfrm>
          <a:prstGeom prst="rect">
            <a:avLst/>
          </a:prstGeom>
        </p:spPr>
      </p:pic>
      <p:pic>
        <p:nvPicPr>
          <p:cNvPr id="6" name="Picture 5" descr="Australia territory map for the map coloring constraint satisfaction problem">
            <a:extLst>
              <a:ext uri="{FF2B5EF4-FFF2-40B4-BE49-F238E27FC236}">
                <a16:creationId xmlns:a16="http://schemas.microsoft.com/office/drawing/2014/main" id="{B4FC85F8-566A-4D41-8434-584FF4B4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38" y="1644393"/>
            <a:ext cx="3979638" cy="3391053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4752975" y="1799029"/>
            <a:ext cx="1581150" cy="723900"/>
          </a:xfrm>
          <a:prstGeom prst="wedgeEllipseCallout">
            <a:avLst>
              <a:gd name="adj1" fmla="val 70733"/>
              <a:gd name="adj2" fmla="val 4144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Start?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316137" y="5097403"/>
            <a:ext cx="1731737" cy="836671"/>
          </a:xfrm>
          <a:prstGeom prst="wedgeEllipseCallout">
            <a:avLst>
              <a:gd name="adj1" fmla="val 58213"/>
              <a:gd name="adj2" fmla="val -2137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Better to go with SA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3068862" y="5291423"/>
            <a:ext cx="2036538" cy="1053510"/>
          </a:xfrm>
          <a:prstGeom prst="wedgeEllipseCallout">
            <a:avLst>
              <a:gd name="adj1" fmla="val -98624"/>
              <a:gd name="adj2" fmla="val -283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Degree Heuristics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 txBox="1">
            <a:spLocks/>
          </p:cNvSpPr>
          <p:nvPr/>
        </p:nvSpPr>
        <p:spPr>
          <a:xfrm>
            <a:off x="5295128" y="5372385"/>
            <a:ext cx="6383294" cy="891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Reduce the branching factor on future choices by selecting the variable that is involved in the largest number of constraints on other unassigned variables</a:t>
            </a:r>
          </a:p>
        </p:txBody>
      </p:sp>
    </p:spTree>
    <p:extLst>
      <p:ext uri="{BB962C8B-B14F-4D97-AF65-F5344CB8AC3E}">
        <p14:creationId xmlns:p14="http://schemas.microsoft.com/office/powerpoint/2010/main" val="395221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Variable and Value Ordering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892" y="1118303"/>
            <a:ext cx="4096215" cy="45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(ORDER-DOMAIN-VALUES)</a:t>
            </a:r>
          </a:p>
        </p:txBody>
      </p:sp>
      <p:pic>
        <p:nvPicPr>
          <p:cNvPr id="4" name="Picture 3" descr="sample expansion for the Australia territory map coloring problem showcasing variable and value ord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83" y="1838412"/>
            <a:ext cx="7734553" cy="3003014"/>
          </a:xfrm>
          <a:prstGeom prst="rect">
            <a:avLst/>
          </a:prstGeom>
        </p:spPr>
      </p:pic>
      <p:pic>
        <p:nvPicPr>
          <p:cNvPr id="6" name="Picture 5" descr="Australia territory map for the map coloring constraint satisfaction problem">
            <a:extLst>
              <a:ext uri="{FF2B5EF4-FFF2-40B4-BE49-F238E27FC236}">
                <a16:creationId xmlns:a16="http://schemas.microsoft.com/office/drawing/2014/main" id="{B4FC85F8-566A-4D41-8434-584FF4B4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38" y="1644393"/>
            <a:ext cx="3979638" cy="3391053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4752975" y="1799029"/>
            <a:ext cx="1581150" cy="723900"/>
          </a:xfrm>
          <a:prstGeom prst="wedgeEllipseCallout">
            <a:avLst>
              <a:gd name="adj1" fmla="val 20733"/>
              <a:gd name="adj2" fmla="val 13618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 for next – Q?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316137" y="5097403"/>
            <a:ext cx="1731737" cy="836671"/>
          </a:xfrm>
          <a:prstGeom prst="wedgeEllipseCallout">
            <a:avLst>
              <a:gd name="adj1" fmla="val 58213"/>
              <a:gd name="adj2" fmla="val -2137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Better to go with Q = red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3068862" y="5291423"/>
            <a:ext cx="2036538" cy="1053510"/>
          </a:xfrm>
          <a:prstGeom prst="wedgeEllipseCallout">
            <a:avLst>
              <a:gd name="adj1" fmla="val -98624"/>
              <a:gd name="adj2" fmla="val -283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Least Constraining Value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 txBox="1">
            <a:spLocks/>
          </p:cNvSpPr>
          <p:nvPr/>
        </p:nvSpPr>
        <p:spPr>
          <a:xfrm>
            <a:off x="5295128" y="5372385"/>
            <a:ext cx="6383294" cy="891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prefers the value that rules out the fewest choices for the neighboring variables in the constraint graph</a:t>
            </a:r>
          </a:p>
        </p:txBody>
      </p:sp>
    </p:spTree>
    <p:extLst>
      <p:ext uri="{BB962C8B-B14F-4D97-AF65-F5344CB8AC3E}">
        <p14:creationId xmlns:p14="http://schemas.microsoft.com/office/powerpoint/2010/main" val="45485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ustralia territory constraint graph for the map coloring constraint satisfaction problem">
            <a:extLst>
              <a:ext uri="{FF2B5EF4-FFF2-40B4-BE49-F238E27FC236}">
                <a16:creationId xmlns:a16="http://schemas.microsoft.com/office/drawing/2014/main" id="{EFD80566-854C-4750-AB1E-FEC11185D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725" y="1644393"/>
            <a:ext cx="4572437" cy="39903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Interleaving Search &amp; Inference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53" y="1127806"/>
            <a:ext cx="6049147" cy="45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inferences ←INFERENCE(</a:t>
            </a:r>
            <a:r>
              <a:rPr lang="en-US" dirty="0" err="1"/>
              <a:t>csp</a:t>
            </a:r>
            <a:r>
              <a:rPr lang="en-US" dirty="0"/>
              <a:t>, </a:t>
            </a:r>
            <a:r>
              <a:rPr lang="en-US" dirty="0" err="1"/>
              <a:t>var</a:t>
            </a:r>
            <a:r>
              <a:rPr lang="en-US" dirty="0"/>
              <a:t> , value)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 txBox="1">
            <a:spLocks/>
          </p:cNvSpPr>
          <p:nvPr/>
        </p:nvSpPr>
        <p:spPr>
          <a:xfrm>
            <a:off x="449345" y="1872298"/>
            <a:ext cx="6867193" cy="11642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Forward Checking </a:t>
            </a:r>
            <a:r>
              <a:rPr lang="en-US" sz="2000" dirty="0"/>
              <a:t>– Whenever a variable X is assigned, establish arc consistency for it : for each unassigned variable Y that is connected to X by a constraint, delete  from Y ’s domain any value that is inconsistent with the value chosen for X</a:t>
            </a: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325438" y="3717925"/>
            <a:ext cx="7448550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2100263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>
            <a:off x="2897188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3703638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4510088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5343526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6169026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6975476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2085976" y="4111625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2085976" y="4481513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2085976" y="4852988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2085976" y="5222875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7745413" y="40973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2085976" y="5594350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2336801" y="3783013"/>
            <a:ext cx="4540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3171826" y="3783013"/>
            <a:ext cx="377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4030663" y="3783013"/>
            <a:ext cx="2730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1"/>
          <p:cNvSpPr>
            <a:spLocks noChangeArrowheads="1"/>
          </p:cNvSpPr>
          <p:nvPr/>
        </p:nvSpPr>
        <p:spPr bwMode="auto">
          <a:xfrm>
            <a:off x="4700588" y="3783013"/>
            <a:ext cx="5746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NSW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5691188" y="3783013"/>
            <a:ext cx="2492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6453188" y="3783013"/>
            <a:ext cx="355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7304088" y="3783013"/>
            <a:ext cx="2301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517526" y="4156075"/>
            <a:ext cx="15097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Initial Domains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26"/>
          <p:cNvSpPr>
            <a:spLocks noChangeArrowheads="1"/>
          </p:cNvSpPr>
          <p:nvPr/>
        </p:nvSpPr>
        <p:spPr bwMode="auto">
          <a:xfrm>
            <a:off x="2244726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27"/>
          <p:cNvSpPr>
            <a:spLocks noChangeArrowheads="1"/>
          </p:cNvSpPr>
          <p:nvPr/>
        </p:nvSpPr>
        <p:spPr bwMode="auto">
          <a:xfrm>
            <a:off x="3041651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28"/>
          <p:cNvSpPr>
            <a:spLocks noChangeArrowheads="1"/>
          </p:cNvSpPr>
          <p:nvPr/>
        </p:nvSpPr>
        <p:spPr bwMode="auto">
          <a:xfrm>
            <a:off x="3848101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4654551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0"/>
          <p:cNvSpPr>
            <a:spLocks noChangeArrowheads="1"/>
          </p:cNvSpPr>
          <p:nvPr/>
        </p:nvSpPr>
        <p:spPr bwMode="auto">
          <a:xfrm>
            <a:off x="5487988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31"/>
          <p:cNvSpPr>
            <a:spLocks noChangeArrowheads="1"/>
          </p:cNvSpPr>
          <p:nvPr/>
        </p:nvSpPr>
        <p:spPr bwMode="auto">
          <a:xfrm>
            <a:off x="6313488" y="41560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7118351" y="4156075"/>
            <a:ext cx="617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3"/>
          <p:cNvSpPr>
            <a:spLocks noChangeArrowheads="1"/>
          </p:cNvSpPr>
          <p:nvPr/>
        </p:nvSpPr>
        <p:spPr bwMode="auto">
          <a:xfrm>
            <a:off x="523876" y="4524375"/>
            <a:ext cx="1511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WA = red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2216597" y="4487713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6" name="Rectangle 35"/>
          <p:cNvSpPr>
            <a:spLocks noChangeArrowheads="1"/>
          </p:cNvSpPr>
          <p:nvPr/>
        </p:nvSpPr>
        <p:spPr bwMode="auto">
          <a:xfrm>
            <a:off x="3198813" y="4524375"/>
            <a:ext cx="4397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36"/>
          <p:cNvSpPr>
            <a:spLocks noChangeArrowheads="1"/>
          </p:cNvSpPr>
          <p:nvPr/>
        </p:nvSpPr>
        <p:spPr bwMode="auto">
          <a:xfrm>
            <a:off x="3848101" y="45243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37"/>
          <p:cNvSpPr>
            <a:spLocks noChangeArrowheads="1"/>
          </p:cNvSpPr>
          <p:nvPr/>
        </p:nvSpPr>
        <p:spPr bwMode="auto">
          <a:xfrm>
            <a:off x="4654551" y="45243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38"/>
          <p:cNvSpPr>
            <a:spLocks noChangeArrowheads="1"/>
          </p:cNvSpPr>
          <p:nvPr/>
        </p:nvSpPr>
        <p:spPr bwMode="auto">
          <a:xfrm>
            <a:off x="5487988" y="4524375"/>
            <a:ext cx="615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39"/>
          <p:cNvSpPr>
            <a:spLocks noChangeArrowheads="1"/>
          </p:cNvSpPr>
          <p:nvPr/>
        </p:nvSpPr>
        <p:spPr bwMode="auto">
          <a:xfrm>
            <a:off x="6469063" y="4524375"/>
            <a:ext cx="4397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40"/>
          <p:cNvSpPr>
            <a:spLocks noChangeArrowheads="1"/>
          </p:cNvSpPr>
          <p:nvPr/>
        </p:nvSpPr>
        <p:spPr bwMode="auto">
          <a:xfrm>
            <a:off x="7118351" y="4524375"/>
            <a:ext cx="617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41"/>
          <p:cNvSpPr>
            <a:spLocks noChangeArrowheads="1"/>
          </p:cNvSpPr>
          <p:nvPr/>
        </p:nvSpPr>
        <p:spPr bwMode="auto">
          <a:xfrm>
            <a:off x="498476" y="4897438"/>
            <a:ext cx="1552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Q = green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42"/>
          <p:cNvSpPr>
            <a:spLocks noChangeArrowheads="1"/>
          </p:cNvSpPr>
          <p:nvPr/>
        </p:nvSpPr>
        <p:spPr bwMode="auto">
          <a:xfrm>
            <a:off x="2211302" y="4850098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3409951" y="4897438"/>
            <a:ext cx="242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3977697" y="4845680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6" name="Rectangle 45"/>
          <p:cNvSpPr>
            <a:spLocks noChangeArrowheads="1"/>
          </p:cNvSpPr>
          <p:nvPr/>
        </p:nvSpPr>
        <p:spPr bwMode="auto">
          <a:xfrm>
            <a:off x="4654551" y="4897438"/>
            <a:ext cx="628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   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46"/>
          <p:cNvSpPr>
            <a:spLocks noChangeArrowheads="1"/>
          </p:cNvSpPr>
          <p:nvPr/>
        </p:nvSpPr>
        <p:spPr bwMode="auto">
          <a:xfrm>
            <a:off x="5487988" y="4897438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48"/>
          <p:cNvSpPr>
            <a:spLocks noChangeArrowheads="1"/>
          </p:cNvSpPr>
          <p:nvPr/>
        </p:nvSpPr>
        <p:spPr bwMode="auto">
          <a:xfrm>
            <a:off x="6680201" y="4897438"/>
            <a:ext cx="242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49"/>
          <p:cNvSpPr>
            <a:spLocks noChangeArrowheads="1"/>
          </p:cNvSpPr>
          <p:nvPr/>
        </p:nvSpPr>
        <p:spPr bwMode="auto">
          <a:xfrm>
            <a:off x="7118351" y="4897438"/>
            <a:ext cx="617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50"/>
          <p:cNvSpPr>
            <a:spLocks noChangeArrowheads="1"/>
          </p:cNvSpPr>
          <p:nvPr/>
        </p:nvSpPr>
        <p:spPr bwMode="auto">
          <a:xfrm>
            <a:off x="574676" y="5268913"/>
            <a:ext cx="12911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V = blue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52"/>
          <p:cNvSpPr>
            <a:spLocks noChangeArrowheads="1"/>
          </p:cNvSpPr>
          <p:nvPr/>
        </p:nvSpPr>
        <p:spPr bwMode="auto">
          <a:xfrm>
            <a:off x="2217604" y="5223316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4" name="Rectangle 53"/>
          <p:cNvSpPr>
            <a:spLocks noChangeArrowheads="1"/>
          </p:cNvSpPr>
          <p:nvPr/>
        </p:nvSpPr>
        <p:spPr bwMode="auto">
          <a:xfrm>
            <a:off x="3409951" y="5268913"/>
            <a:ext cx="242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54"/>
          <p:cNvSpPr>
            <a:spLocks noChangeArrowheads="1"/>
          </p:cNvSpPr>
          <p:nvPr/>
        </p:nvSpPr>
        <p:spPr bwMode="auto">
          <a:xfrm>
            <a:off x="3977697" y="5215012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6" name="Rectangle 55"/>
          <p:cNvSpPr>
            <a:spLocks noChangeArrowheads="1"/>
          </p:cNvSpPr>
          <p:nvPr/>
        </p:nvSpPr>
        <p:spPr bwMode="auto">
          <a:xfrm>
            <a:off x="4654551" y="5268913"/>
            <a:ext cx="242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Rectangle 56"/>
          <p:cNvSpPr>
            <a:spLocks noChangeArrowheads="1"/>
          </p:cNvSpPr>
          <p:nvPr/>
        </p:nvSpPr>
        <p:spPr bwMode="auto">
          <a:xfrm>
            <a:off x="5845775" y="5205583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8" name="Rectangle 57"/>
          <p:cNvSpPr>
            <a:spLocks noChangeArrowheads="1"/>
          </p:cNvSpPr>
          <p:nvPr/>
        </p:nvSpPr>
        <p:spPr bwMode="auto">
          <a:xfrm>
            <a:off x="7118351" y="5268913"/>
            <a:ext cx="617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80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ustralia territory constraint graph for the map coloring constraint satisfaction problem">
            <a:extLst>
              <a:ext uri="{FF2B5EF4-FFF2-40B4-BE49-F238E27FC236}">
                <a16:creationId xmlns:a16="http://schemas.microsoft.com/office/drawing/2014/main" id="{EFD80566-854C-4750-AB1E-FEC11185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25" y="1644393"/>
            <a:ext cx="4572437" cy="39903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928688"/>
          </a:xfrm>
        </p:spPr>
        <p:txBody>
          <a:bodyPr/>
          <a:lstStyle/>
          <a:p>
            <a:pPr algn="ctr"/>
            <a:r>
              <a:rPr lang="en-US" u="sng" dirty="0"/>
              <a:t>Interleaving Search &amp; Inference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53" y="1127806"/>
            <a:ext cx="6049147" cy="45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inferences ←INFERENCE(</a:t>
            </a:r>
            <a:r>
              <a:rPr lang="en-US" dirty="0" err="1"/>
              <a:t>csp</a:t>
            </a:r>
            <a:r>
              <a:rPr lang="en-US" dirty="0"/>
              <a:t>, </a:t>
            </a:r>
            <a:r>
              <a:rPr lang="en-US" dirty="0" err="1"/>
              <a:t>var</a:t>
            </a:r>
            <a:r>
              <a:rPr lang="en-US" dirty="0"/>
              <a:t> , value)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3D2D38-1C6D-4F9F-BED4-EAA6DE77035C}"/>
              </a:ext>
            </a:extLst>
          </p:cNvPr>
          <p:cNvSpPr txBox="1">
            <a:spLocks/>
          </p:cNvSpPr>
          <p:nvPr/>
        </p:nvSpPr>
        <p:spPr>
          <a:xfrm>
            <a:off x="449345" y="1872298"/>
            <a:ext cx="7296068" cy="11642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Forward Checking</a:t>
            </a:r>
          </a:p>
          <a:p>
            <a:pPr marL="0" indent="0">
              <a:buNone/>
            </a:pPr>
            <a:r>
              <a:rPr lang="en-US" sz="2000" dirty="0"/>
              <a:t>Variable Selection – </a:t>
            </a:r>
            <a:r>
              <a:rPr lang="en-US" sz="2000" b="1" dirty="0"/>
              <a:t>Minimum Remaining Values, Degree Heuristics</a:t>
            </a:r>
          </a:p>
          <a:p>
            <a:pPr marL="0" indent="0">
              <a:buNone/>
            </a:pPr>
            <a:r>
              <a:rPr lang="en-US" sz="2000" dirty="0"/>
              <a:t>Value Ordering – </a:t>
            </a:r>
            <a:r>
              <a:rPr lang="en-US" sz="2000" b="1" dirty="0"/>
              <a:t>Least Constraining Value</a:t>
            </a:r>
            <a:endParaRPr lang="en-US" sz="2000" dirty="0"/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325438" y="3323291"/>
            <a:ext cx="7448550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2100263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>
            <a:off x="2897188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3703638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4510088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5343526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6169026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6975476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2085976" y="3716991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2085976" y="4086879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2085976" y="4458354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2085976" y="4828241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7745413" y="3702704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2085976" y="5199716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2336801" y="3388379"/>
            <a:ext cx="3277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WA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3171826" y="3388379"/>
            <a:ext cx="2612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NT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4030663" y="3388379"/>
            <a:ext cx="155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2" name="Rectangle 21"/>
          <p:cNvSpPr>
            <a:spLocks noChangeArrowheads="1"/>
          </p:cNvSpPr>
          <p:nvPr/>
        </p:nvSpPr>
        <p:spPr bwMode="auto">
          <a:xfrm>
            <a:off x="4700588" y="3388379"/>
            <a:ext cx="4583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NSW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5691188" y="3388379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V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6453188" y="3388379"/>
            <a:ext cx="2371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SA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7304088" y="3388379"/>
            <a:ext cx="1122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517526" y="3761441"/>
            <a:ext cx="14026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Initial Domains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7" name="Rectangle 26"/>
          <p:cNvSpPr>
            <a:spLocks noChangeArrowheads="1"/>
          </p:cNvSpPr>
          <p:nvPr/>
        </p:nvSpPr>
        <p:spPr bwMode="auto">
          <a:xfrm>
            <a:off x="2244726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8" name="Rectangle 27"/>
          <p:cNvSpPr>
            <a:spLocks noChangeArrowheads="1"/>
          </p:cNvSpPr>
          <p:nvPr/>
        </p:nvSpPr>
        <p:spPr bwMode="auto">
          <a:xfrm>
            <a:off x="3041651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9" name="Rectangle 28"/>
          <p:cNvSpPr>
            <a:spLocks noChangeArrowheads="1"/>
          </p:cNvSpPr>
          <p:nvPr/>
        </p:nvSpPr>
        <p:spPr bwMode="auto">
          <a:xfrm>
            <a:off x="3848101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4654551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41" name="Rectangle 30"/>
          <p:cNvSpPr>
            <a:spLocks noChangeArrowheads="1"/>
          </p:cNvSpPr>
          <p:nvPr/>
        </p:nvSpPr>
        <p:spPr bwMode="auto">
          <a:xfrm>
            <a:off x="5487988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42" name="Rectangle 31"/>
          <p:cNvSpPr>
            <a:spLocks noChangeArrowheads="1"/>
          </p:cNvSpPr>
          <p:nvPr/>
        </p:nvSpPr>
        <p:spPr bwMode="auto">
          <a:xfrm>
            <a:off x="6313488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7118351" y="37614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44" name="Rectangle 33"/>
          <p:cNvSpPr>
            <a:spLocks noChangeArrowheads="1"/>
          </p:cNvSpPr>
          <p:nvPr/>
        </p:nvSpPr>
        <p:spPr bwMode="auto">
          <a:xfrm>
            <a:off x="523876" y="4129741"/>
            <a:ext cx="12992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SA = red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2254350" y="4129741"/>
            <a:ext cx="492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  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6" name="Rectangle 35"/>
          <p:cNvSpPr>
            <a:spLocks noChangeArrowheads="1"/>
          </p:cNvSpPr>
          <p:nvPr/>
        </p:nvSpPr>
        <p:spPr bwMode="auto">
          <a:xfrm>
            <a:off x="3218063" y="4129741"/>
            <a:ext cx="3238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7" name="Rectangle 36"/>
          <p:cNvSpPr>
            <a:spLocks noChangeArrowheads="1"/>
          </p:cNvSpPr>
          <p:nvPr/>
        </p:nvSpPr>
        <p:spPr bwMode="auto">
          <a:xfrm>
            <a:off x="3857726" y="4129741"/>
            <a:ext cx="4825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  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8" name="Rectangle 37"/>
          <p:cNvSpPr>
            <a:spLocks noChangeArrowheads="1"/>
          </p:cNvSpPr>
          <p:nvPr/>
        </p:nvSpPr>
        <p:spPr bwMode="auto">
          <a:xfrm>
            <a:off x="4837431" y="4129741"/>
            <a:ext cx="3238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9" name="Rectangle 38"/>
          <p:cNvSpPr>
            <a:spLocks noChangeArrowheads="1"/>
          </p:cNvSpPr>
          <p:nvPr/>
        </p:nvSpPr>
        <p:spPr bwMode="auto">
          <a:xfrm>
            <a:off x="5670870" y="4129741"/>
            <a:ext cx="3238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0" name="Rectangle 39"/>
          <p:cNvSpPr>
            <a:spLocks noChangeArrowheads="1"/>
          </p:cNvSpPr>
          <p:nvPr/>
        </p:nvSpPr>
        <p:spPr bwMode="auto">
          <a:xfrm>
            <a:off x="6286329" y="4093529"/>
            <a:ext cx="6573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1" name="Rectangle 40"/>
          <p:cNvSpPr>
            <a:spLocks noChangeArrowheads="1"/>
          </p:cNvSpPr>
          <p:nvPr/>
        </p:nvSpPr>
        <p:spPr bwMode="auto">
          <a:xfrm>
            <a:off x="7118351" y="4129741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52" name="Rectangle 41"/>
          <p:cNvSpPr>
            <a:spLocks noChangeArrowheads="1"/>
          </p:cNvSpPr>
          <p:nvPr/>
        </p:nvSpPr>
        <p:spPr bwMode="auto">
          <a:xfrm>
            <a:off x="469601" y="4502804"/>
            <a:ext cx="15477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</a:t>
            </a:r>
            <a:r>
              <a:rPr lang="en-US" altLang="en-US" dirty="0">
                <a:latin typeface="Calibri" panose="020F0502020204030204" pitchFamily="34" charset="0"/>
              </a:rPr>
              <a:t>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 = green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3" name="Rectangle 42"/>
          <p:cNvSpPr>
            <a:spLocks noChangeArrowheads="1"/>
          </p:cNvSpPr>
          <p:nvPr/>
        </p:nvSpPr>
        <p:spPr bwMode="auto">
          <a:xfrm>
            <a:off x="2593858" y="4493713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3198813" y="4458909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4205887" y="4502804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6" name="Rectangle 45"/>
          <p:cNvSpPr>
            <a:spLocks noChangeArrowheads="1"/>
          </p:cNvSpPr>
          <p:nvPr/>
        </p:nvSpPr>
        <p:spPr bwMode="auto">
          <a:xfrm>
            <a:off x="4673801" y="4502804"/>
            <a:ext cx="4825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  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7" name="Rectangle 46"/>
          <p:cNvSpPr>
            <a:spLocks noChangeArrowheads="1"/>
          </p:cNvSpPr>
          <p:nvPr/>
        </p:nvSpPr>
        <p:spPr bwMode="auto">
          <a:xfrm>
            <a:off x="5468738" y="4502804"/>
            <a:ext cx="5354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   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9" name="Rectangle 48"/>
          <p:cNvSpPr>
            <a:spLocks noChangeArrowheads="1"/>
          </p:cNvSpPr>
          <p:nvPr/>
        </p:nvSpPr>
        <p:spPr bwMode="auto">
          <a:xfrm>
            <a:off x="6299360" y="4455643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  <p:sp>
        <p:nvSpPr>
          <p:cNvPr id="60" name="Rectangle 49"/>
          <p:cNvSpPr>
            <a:spLocks noChangeArrowheads="1"/>
          </p:cNvSpPr>
          <p:nvPr/>
        </p:nvSpPr>
        <p:spPr bwMode="auto">
          <a:xfrm>
            <a:off x="7118351" y="4502804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1" name="Rectangle 50"/>
          <p:cNvSpPr>
            <a:spLocks noChangeArrowheads="1"/>
          </p:cNvSpPr>
          <p:nvPr/>
        </p:nvSpPr>
        <p:spPr bwMode="auto">
          <a:xfrm>
            <a:off x="574676" y="4874279"/>
            <a:ext cx="13151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Q = blue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3" name="Rectangle 52"/>
          <p:cNvSpPr>
            <a:spLocks noChangeArrowheads="1"/>
          </p:cNvSpPr>
          <p:nvPr/>
        </p:nvSpPr>
        <p:spPr bwMode="auto">
          <a:xfrm>
            <a:off x="2593858" y="4881881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sp>
        <p:nvSpPr>
          <p:cNvPr id="64" name="Rectangle 53"/>
          <p:cNvSpPr>
            <a:spLocks noChangeArrowheads="1"/>
          </p:cNvSpPr>
          <p:nvPr/>
        </p:nvSpPr>
        <p:spPr bwMode="auto">
          <a:xfrm>
            <a:off x="3198813" y="4835881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5" name="Rectangle 54"/>
          <p:cNvSpPr>
            <a:spLocks noChangeArrowheads="1"/>
          </p:cNvSpPr>
          <p:nvPr/>
        </p:nvSpPr>
        <p:spPr bwMode="auto">
          <a:xfrm>
            <a:off x="4181122" y="4836635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6" name="Rectangle 55"/>
          <p:cNvSpPr>
            <a:spLocks noChangeArrowheads="1"/>
          </p:cNvSpPr>
          <p:nvPr/>
        </p:nvSpPr>
        <p:spPr bwMode="auto">
          <a:xfrm>
            <a:off x="4625676" y="4874279"/>
            <a:ext cx="3574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7" name="Rectangle 56"/>
          <p:cNvSpPr>
            <a:spLocks noChangeArrowheads="1"/>
          </p:cNvSpPr>
          <p:nvPr/>
        </p:nvSpPr>
        <p:spPr bwMode="auto">
          <a:xfrm>
            <a:off x="5683033" y="4874279"/>
            <a:ext cx="3238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8" name="Rectangle 57"/>
          <p:cNvSpPr>
            <a:spLocks noChangeArrowheads="1"/>
          </p:cNvSpPr>
          <p:nvPr/>
        </p:nvSpPr>
        <p:spPr bwMode="auto">
          <a:xfrm>
            <a:off x="7118351" y="4874279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8" name="Rectangle 48"/>
          <p:cNvSpPr>
            <a:spLocks noChangeArrowheads="1"/>
          </p:cNvSpPr>
          <p:nvPr/>
        </p:nvSpPr>
        <p:spPr bwMode="auto">
          <a:xfrm>
            <a:off x="6308552" y="4835715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>
            <a:off x="2084375" y="5592751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Rectangle 50"/>
          <p:cNvSpPr>
            <a:spLocks noChangeArrowheads="1"/>
          </p:cNvSpPr>
          <p:nvPr/>
        </p:nvSpPr>
        <p:spPr bwMode="auto">
          <a:xfrm>
            <a:off x="283705" y="5267314"/>
            <a:ext cx="17449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NSW = green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1" name="Rectangle 52"/>
          <p:cNvSpPr>
            <a:spLocks noChangeArrowheads="1"/>
          </p:cNvSpPr>
          <p:nvPr/>
        </p:nvSpPr>
        <p:spPr bwMode="auto">
          <a:xfrm>
            <a:off x="2591305" y="5246262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2" name="Rectangle 53"/>
          <p:cNvSpPr>
            <a:spLocks noChangeArrowheads="1"/>
          </p:cNvSpPr>
          <p:nvPr/>
        </p:nvSpPr>
        <p:spPr bwMode="auto">
          <a:xfrm>
            <a:off x="3198186" y="5197057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3" name="Rectangle 54"/>
          <p:cNvSpPr>
            <a:spLocks noChangeArrowheads="1"/>
          </p:cNvSpPr>
          <p:nvPr/>
        </p:nvSpPr>
        <p:spPr bwMode="auto">
          <a:xfrm>
            <a:off x="4179518" y="5213421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4" name="Rectangle 55"/>
          <p:cNvSpPr>
            <a:spLocks noChangeArrowheads="1"/>
          </p:cNvSpPr>
          <p:nvPr/>
        </p:nvSpPr>
        <p:spPr bwMode="auto">
          <a:xfrm>
            <a:off x="4816205" y="5206073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5" name="Rectangle 56"/>
          <p:cNvSpPr>
            <a:spLocks noChangeArrowheads="1"/>
          </p:cNvSpPr>
          <p:nvPr/>
        </p:nvSpPr>
        <p:spPr bwMode="auto">
          <a:xfrm>
            <a:off x="5883652" y="5258522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6" name="Rectangle 57"/>
          <p:cNvSpPr>
            <a:spLocks noChangeArrowheads="1"/>
          </p:cNvSpPr>
          <p:nvPr/>
        </p:nvSpPr>
        <p:spPr bwMode="auto">
          <a:xfrm>
            <a:off x="7116750" y="5267314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7" name="Rectangle 48"/>
          <p:cNvSpPr>
            <a:spLocks noChangeArrowheads="1"/>
          </p:cNvSpPr>
          <p:nvPr/>
        </p:nvSpPr>
        <p:spPr bwMode="auto">
          <a:xfrm>
            <a:off x="6306951" y="5211166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  <p:sp>
        <p:nvSpPr>
          <p:cNvPr id="88" name="Line 5"/>
          <p:cNvSpPr>
            <a:spLocks noChangeShapeType="1"/>
          </p:cNvSpPr>
          <p:nvPr/>
        </p:nvSpPr>
        <p:spPr bwMode="auto">
          <a:xfrm>
            <a:off x="2098661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Line 6"/>
          <p:cNvSpPr>
            <a:spLocks noChangeShapeType="1"/>
          </p:cNvSpPr>
          <p:nvPr/>
        </p:nvSpPr>
        <p:spPr bwMode="auto">
          <a:xfrm>
            <a:off x="2895586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Line 7"/>
          <p:cNvSpPr>
            <a:spLocks noChangeShapeType="1"/>
          </p:cNvSpPr>
          <p:nvPr/>
        </p:nvSpPr>
        <p:spPr bwMode="auto">
          <a:xfrm>
            <a:off x="3702036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Line 8"/>
          <p:cNvSpPr>
            <a:spLocks noChangeShapeType="1"/>
          </p:cNvSpPr>
          <p:nvPr/>
        </p:nvSpPr>
        <p:spPr bwMode="auto">
          <a:xfrm>
            <a:off x="4508486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Line 9"/>
          <p:cNvSpPr>
            <a:spLocks noChangeShapeType="1"/>
          </p:cNvSpPr>
          <p:nvPr/>
        </p:nvSpPr>
        <p:spPr bwMode="auto">
          <a:xfrm>
            <a:off x="5341924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10"/>
          <p:cNvSpPr>
            <a:spLocks noChangeShapeType="1"/>
          </p:cNvSpPr>
          <p:nvPr/>
        </p:nvSpPr>
        <p:spPr bwMode="auto">
          <a:xfrm>
            <a:off x="6167424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11"/>
          <p:cNvSpPr>
            <a:spLocks noChangeShapeType="1"/>
          </p:cNvSpPr>
          <p:nvPr/>
        </p:nvSpPr>
        <p:spPr bwMode="auto">
          <a:xfrm>
            <a:off x="6973874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14"/>
          <p:cNvSpPr>
            <a:spLocks noChangeShapeType="1"/>
          </p:cNvSpPr>
          <p:nvPr/>
        </p:nvSpPr>
        <p:spPr bwMode="auto">
          <a:xfrm>
            <a:off x="2084374" y="5958288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5"/>
          <p:cNvSpPr>
            <a:spLocks noChangeShapeType="1"/>
          </p:cNvSpPr>
          <p:nvPr/>
        </p:nvSpPr>
        <p:spPr bwMode="auto">
          <a:xfrm>
            <a:off x="2084374" y="6328175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6"/>
          <p:cNvSpPr>
            <a:spLocks noChangeShapeType="1"/>
          </p:cNvSpPr>
          <p:nvPr/>
        </p:nvSpPr>
        <p:spPr bwMode="auto">
          <a:xfrm>
            <a:off x="7752864" y="5202638"/>
            <a:ext cx="0" cy="151130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Line 17"/>
          <p:cNvSpPr>
            <a:spLocks noChangeShapeType="1"/>
          </p:cNvSpPr>
          <p:nvPr/>
        </p:nvSpPr>
        <p:spPr bwMode="auto">
          <a:xfrm>
            <a:off x="2084374" y="6699650"/>
            <a:ext cx="5673725" cy="0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Rectangle 50"/>
          <p:cNvSpPr>
            <a:spLocks noChangeArrowheads="1"/>
          </p:cNvSpPr>
          <p:nvPr/>
        </p:nvSpPr>
        <p:spPr bwMode="auto">
          <a:xfrm>
            <a:off x="455971" y="5641092"/>
            <a:ext cx="14874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WA = blue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1" name="Rectangle 52"/>
          <p:cNvSpPr>
            <a:spLocks noChangeArrowheads="1"/>
          </p:cNvSpPr>
          <p:nvPr/>
        </p:nvSpPr>
        <p:spPr bwMode="auto">
          <a:xfrm>
            <a:off x="2573138" y="5586814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400" b="1" dirty="0"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2" name="Rectangle 53"/>
          <p:cNvSpPr>
            <a:spLocks noChangeArrowheads="1"/>
          </p:cNvSpPr>
          <p:nvPr/>
        </p:nvSpPr>
        <p:spPr bwMode="auto">
          <a:xfrm>
            <a:off x="3203489" y="5586814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3" name="Rectangle 54"/>
          <p:cNvSpPr>
            <a:spLocks noChangeArrowheads="1"/>
          </p:cNvSpPr>
          <p:nvPr/>
        </p:nvSpPr>
        <p:spPr bwMode="auto">
          <a:xfrm>
            <a:off x="4168589" y="5595827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4" name="Rectangle 55"/>
          <p:cNvSpPr>
            <a:spLocks noChangeArrowheads="1"/>
          </p:cNvSpPr>
          <p:nvPr/>
        </p:nvSpPr>
        <p:spPr bwMode="auto">
          <a:xfrm>
            <a:off x="4819433" y="5595827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5" name="Rectangle 56"/>
          <p:cNvSpPr>
            <a:spLocks noChangeArrowheads="1"/>
          </p:cNvSpPr>
          <p:nvPr/>
        </p:nvSpPr>
        <p:spPr bwMode="auto">
          <a:xfrm>
            <a:off x="5882961" y="5632793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6" name="Rectangle 57"/>
          <p:cNvSpPr>
            <a:spLocks noChangeArrowheads="1"/>
          </p:cNvSpPr>
          <p:nvPr/>
        </p:nvSpPr>
        <p:spPr bwMode="auto">
          <a:xfrm>
            <a:off x="7115146" y="5641092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7" name="Rectangle 48"/>
          <p:cNvSpPr>
            <a:spLocks noChangeArrowheads="1"/>
          </p:cNvSpPr>
          <p:nvPr/>
        </p:nvSpPr>
        <p:spPr bwMode="auto">
          <a:xfrm>
            <a:off x="6305347" y="5593736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  <p:sp>
        <p:nvSpPr>
          <p:cNvPr id="108" name="Rectangle 50"/>
          <p:cNvSpPr>
            <a:spLocks noChangeArrowheads="1"/>
          </p:cNvSpPr>
          <p:nvPr/>
        </p:nvSpPr>
        <p:spPr bwMode="auto">
          <a:xfrm>
            <a:off x="579495" y="6005245"/>
            <a:ext cx="12911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V = blue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9" name="Rectangle 52"/>
          <p:cNvSpPr>
            <a:spLocks noChangeArrowheads="1"/>
          </p:cNvSpPr>
          <p:nvPr/>
        </p:nvSpPr>
        <p:spPr bwMode="auto">
          <a:xfrm>
            <a:off x="2563045" y="5959288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400" b="1" dirty="0"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0" name="Rectangle 53"/>
          <p:cNvSpPr>
            <a:spLocks noChangeArrowheads="1"/>
          </p:cNvSpPr>
          <p:nvPr/>
        </p:nvSpPr>
        <p:spPr bwMode="auto">
          <a:xfrm>
            <a:off x="3202343" y="5970209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1" name="Rectangle 54"/>
          <p:cNvSpPr>
            <a:spLocks noChangeArrowheads="1"/>
          </p:cNvSpPr>
          <p:nvPr/>
        </p:nvSpPr>
        <p:spPr bwMode="auto">
          <a:xfrm>
            <a:off x="4166986" y="5959980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2" name="Rectangle 55"/>
          <p:cNvSpPr>
            <a:spLocks noChangeArrowheads="1"/>
          </p:cNvSpPr>
          <p:nvPr/>
        </p:nvSpPr>
        <p:spPr bwMode="auto">
          <a:xfrm>
            <a:off x="4826621" y="5959980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3" name="Rectangle 56"/>
          <p:cNvSpPr>
            <a:spLocks noChangeArrowheads="1"/>
          </p:cNvSpPr>
          <p:nvPr/>
        </p:nvSpPr>
        <p:spPr bwMode="auto">
          <a:xfrm>
            <a:off x="5881315" y="5972907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4" name="Rectangle 57"/>
          <p:cNvSpPr>
            <a:spLocks noChangeArrowheads="1"/>
          </p:cNvSpPr>
          <p:nvPr/>
        </p:nvSpPr>
        <p:spPr bwMode="auto">
          <a:xfrm>
            <a:off x="7113544" y="6005245"/>
            <a:ext cx="5017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 G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5" name="Rectangle 48"/>
          <p:cNvSpPr>
            <a:spLocks noChangeArrowheads="1"/>
          </p:cNvSpPr>
          <p:nvPr/>
        </p:nvSpPr>
        <p:spPr bwMode="auto">
          <a:xfrm>
            <a:off x="6303745" y="5966681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  <p:sp>
        <p:nvSpPr>
          <p:cNvPr id="116" name="Rectangle 50"/>
          <p:cNvSpPr>
            <a:spLocks noChangeArrowheads="1"/>
          </p:cNvSpPr>
          <p:nvPr/>
        </p:nvSpPr>
        <p:spPr bwMode="auto">
          <a:xfrm>
            <a:off x="645266" y="6369398"/>
            <a:ext cx="11742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After T = red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7" name="Rectangle 52"/>
          <p:cNvSpPr>
            <a:spLocks noChangeArrowheads="1"/>
          </p:cNvSpPr>
          <p:nvPr/>
        </p:nvSpPr>
        <p:spPr bwMode="auto">
          <a:xfrm>
            <a:off x="2569495" y="6311906"/>
            <a:ext cx="2506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400" b="1" dirty="0"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8" name="Rectangle 53"/>
          <p:cNvSpPr>
            <a:spLocks noChangeArrowheads="1"/>
          </p:cNvSpPr>
          <p:nvPr/>
        </p:nvSpPr>
        <p:spPr bwMode="auto">
          <a:xfrm>
            <a:off x="3192219" y="6316681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9" name="Rectangle 54"/>
          <p:cNvSpPr>
            <a:spLocks noChangeArrowheads="1"/>
          </p:cNvSpPr>
          <p:nvPr/>
        </p:nvSpPr>
        <p:spPr bwMode="auto">
          <a:xfrm>
            <a:off x="4165382" y="6324133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20" name="Rectangle 55"/>
          <p:cNvSpPr>
            <a:spLocks noChangeArrowheads="1"/>
          </p:cNvSpPr>
          <p:nvPr/>
        </p:nvSpPr>
        <p:spPr bwMode="auto">
          <a:xfrm>
            <a:off x="4833805" y="6324133"/>
            <a:ext cx="195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Calibri" panose="020F0502020204030204" pitchFamily="34" charset="0"/>
              </a:rPr>
              <a:t>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21" name="Rectangle 56"/>
          <p:cNvSpPr>
            <a:spLocks noChangeArrowheads="1"/>
          </p:cNvSpPr>
          <p:nvPr/>
        </p:nvSpPr>
        <p:spPr bwMode="auto">
          <a:xfrm>
            <a:off x="5879713" y="6342239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B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22" name="Rectangle 57"/>
          <p:cNvSpPr>
            <a:spLocks noChangeArrowheads="1"/>
          </p:cNvSpPr>
          <p:nvPr/>
        </p:nvSpPr>
        <p:spPr bwMode="auto">
          <a:xfrm>
            <a:off x="7093834" y="6342239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</a:rPr>
              <a:t>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23" name="Rectangle 48"/>
          <p:cNvSpPr>
            <a:spLocks noChangeArrowheads="1"/>
          </p:cNvSpPr>
          <p:nvPr/>
        </p:nvSpPr>
        <p:spPr bwMode="auto">
          <a:xfrm>
            <a:off x="6302141" y="6330834"/>
            <a:ext cx="17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Calibri" panose="020F0502020204030204" pitchFamily="34" charset="0"/>
              </a:rPr>
              <a:t>R</a:t>
            </a: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453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58" grpId="0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99" grpId="0" animBg="1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10223</TotalTime>
  <Words>2133</Words>
  <Application>Microsoft Office PowerPoint</Application>
  <PresentationFormat>Widescreen</PresentationFormat>
  <Paragraphs>353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Constraint Satisfaction Problems</vt:lpstr>
      <vt:lpstr>State Representations</vt:lpstr>
      <vt:lpstr>Constraint Satisfaction Problems</vt:lpstr>
      <vt:lpstr>CSP</vt:lpstr>
      <vt:lpstr>CSP – Map Coloring</vt:lpstr>
      <vt:lpstr>CSP as Constraint Graph</vt:lpstr>
      <vt:lpstr>CSP – Job-shop Scheduling</vt:lpstr>
      <vt:lpstr>CSP Formalism</vt:lpstr>
      <vt:lpstr>Crypt-arithmetic Problem</vt:lpstr>
      <vt:lpstr>Constraint Propagation</vt:lpstr>
      <vt:lpstr>Constraint Propagation – Node Consistency</vt:lpstr>
      <vt:lpstr>Constraint Propagation – Arc Consistency</vt:lpstr>
      <vt:lpstr>Constraint Propagation – Arc Consistency</vt:lpstr>
      <vt:lpstr>Constraint Propagation – Path Consistency</vt:lpstr>
      <vt:lpstr>Sudoku Example – Arc Consistency</vt:lpstr>
      <vt:lpstr>Backtracking Search for CSP</vt:lpstr>
      <vt:lpstr>Backtracking Search for CSP</vt:lpstr>
      <vt:lpstr>Backtracking Search for CSP</vt:lpstr>
      <vt:lpstr>Variable and Value Ordering</vt:lpstr>
      <vt:lpstr>Variable and Value Ordering</vt:lpstr>
      <vt:lpstr>Variable and Value Ordering</vt:lpstr>
      <vt:lpstr>Interleaving Search &amp; Inference</vt:lpstr>
      <vt:lpstr>Interleaving Search &amp;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Satisfaction Problems</dc:title>
  <dc:creator>Kevin Desai</dc:creator>
  <cp:lastModifiedBy>Kevin Desai</cp:lastModifiedBy>
  <cp:revision>719</cp:revision>
  <cp:lastPrinted>2019-06-10T21:43:26Z</cp:lastPrinted>
  <dcterms:created xsi:type="dcterms:W3CDTF">2019-06-07T13:44:32Z</dcterms:created>
  <dcterms:modified xsi:type="dcterms:W3CDTF">2021-06-29T23:26:12Z</dcterms:modified>
</cp:coreProperties>
</file>